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112" autoAdjust="0"/>
  </p:normalViewPr>
  <p:slideViewPr>
    <p:cSldViewPr snapToGrid="0" snapToObjects="1">
      <p:cViewPr varScale="1">
        <p:scale>
          <a:sx n="92" d="100"/>
          <a:sy n="92" d="100"/>
        </p:scale>
        <p:origin x="76"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8448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not a talk. You will do five short labs, and each one ends with a debrief. Expect to have code running in under fifteen minutes.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stream mapping story. Most new services needed the same components, yet each one took about two weeks, and development could not start until the infrastructure existed. The bottleneck was human assembly work, not technology. (45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the silence in the room, and the prototype that appeared to prove it. Let the success land; the next slide breaks it. (60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input, different Terraform. Both versions were plausible; neither could be compared with the other. You cannot review a diff that changes when intent has not. This is what you will see for yourselves in Lab 1. (45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two-stage pipeline. AI reads human-written architecture and fills a structured spec. A script turns the spec into Terraform, the same way every time. Engineers review at two gates: the YAML and the plan. Say this slide out loud once and move on; the labs teach it. (90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workshop works: short labs, a Notice box in each, and a debrief after each. Using a fallback file is fine; nobody should be stuck. (30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preflight script on screen and walk the room. Pair anyone with a MISSING line. State the Azure rule once: with a subscription you run terraform plan; without one you stop after init, validate and tflint. (5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10:10 to 10:25. Hands-on until 10:22, then a three-minute debrief. Start run 2 as soon as run 1 finishes. git diff exits with code 1 when files differ; that is expected.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differences on a board: names, ordering, tags, comments, structure. Both runs are usually plausible; neither is reviewable against the other. Land the point: the output was fine, it was not reproducible. Infrastructure needs reproducible. (3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runs 10:25 to 10:50. Hands-on until 10:46, then a four-minute debrief. Part A is mostly waiting; point people at the prompt file and its rules about assumptions. Part B is the heart of the lab. If the room is behind at 10:45, skip Part 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Tally findings by type on the board. Tell them Lab 3 will show how many problems the machine finds. Be honest about determinism: AI will not produce byte-identical YAML twice. What stays stable is the structure, because the schema constrains it, and because the YAML is reviewed and committed before anything builds from it. (4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 runs 10:50 to 11:10. Hands-on until 11:07, then a three-minute debrief. Run git add infra before the second generation, and run the check before terraform init. The placeholder-state warning is expected. Azure attendees run plan; others stop after tflint.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six flaws that passed the generator and let the room sit with the fact that the output is valid Terraform containing wrong values. Schema errors are long and repetitive; the useful line is buried, so search for the field name. (3 minutes)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Reset stragglers: anyone who failed terraform init or never got a spec should copy the reference spec and regenerate.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runs 11:15 to 11:35. Hands-on until 11:32, then a three-minute debrief. This lab has the highest dropout risk; opening the solution is a normal choice. The four touch points are the whole lesson. The common mistake is a misspelled helper function: copy the topic script and change as little as possible.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a type needed no AI at all. Security defaults live in the action script so they are identical every run; the spec can only ask for things the script allows. Ask for one standard they would encode this way first. (3 minutes)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5 runs 11:35 to 11:50. Hands-on until 11:47, then a three-minute debrief. The plain diff touches every generated file because each header records the SHA-256 of the spec; that is traceability, and the -I filter removes the noise. After filtering, only environments\prd.tfvars should differ. robocopy returns non-zero exit codes on success.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diff to the one from Lab 1. One sentence of intent became one value in one file. (3 minutes)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five minutes to fill out the worksheet individually (it is the last table in the lab guide). Then they compare with a neighbor.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or three answers from the room. Resist giving advice; let attendees hear each other. (3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line from the talk: AI handles the fuzzy work, scripts handle the deterministic work, engineers handle judgment. (1 minute)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Remind them to clean up the infra folder, and point them at the adapting and extending guides. (2 minutes)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4909"/>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E1A2B"/>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72616"/>
            <a:ext cx="10566400" cy="3972584"/>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4909"/>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E1A2B"/>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72616"/>
            <a:ext cx="10566400" cy="3972584"/>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178309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7DB0FF"/>
                </a:solidFill>
                <a:latin typeface="Courier New" pitchFamily="49" charset="0"/>
                <a:ea typeface="Courier New" pitchFamily="49" charset="-122"/>
                <a:cs typeface="Courier New" pitchFamily="49" charset="-120"/>
              </a:rPr>
              <a:t>HANDS-ON WORKSHOP · 2 HOURS</a:t>
            </a:r>
            <a:endParaRPr lang="en-US" sz="1400" dirty="0"/>
          </a:p>
        </p:txBody>
      </p:sp>
      <p:sp>
        <p:nvSpPr>
          <p:cNvPr id="3" name="Text 1"/>
          <p:cNvSpPr>
            <a:spLocks noGrp="1"/>
          </p:cNvSpPr>
          <p:nvPr>
            <p:ph type="title"/>
          </p:nvPr>
        </p:nvSpPr>
        <p:spPr>
          <a:xfrm>
            <a:off x="812800" y="228600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6F1"/>
                </a:solidFill>
                <a:latin typeface="Arial" pitchFamily="34" charset="0"/>
                <a:ea typeface="Arial" pitchFamily="34" charset="-122"/>
                <a:cs typeface="Arial" pitchFamily="34" charset="-120"/>
              </a:rPr>
              <a:t>From Architecture</a:t>
            </a:r>
            <a:endParaRPr lang="en-US" sz="6000" dirty="0"/>
          </a:p>
          <a:p>
            <a:pPr marL="0" indent="0" algn="l">
              <a:lnSpc>
                <a:spcPts val="6300"/>
              </a:lnSpc>
              <a:buNone/>
            </a:pPr>
            <a:r>
              <a:rPr lang="en-US" sz="6000" b="1" i="0" dirty="0">
                <a:solidFill>
                  <a:srgbClr val="F7F6F1"/>
                </a:solidFill>
                <a:latin typeface="Arial" pitchFamily="34" charset="0"/>
                <a:ea typeface="Arial" pitchFamily="34" charset="-122"/>
                <a:cs typeface="Arial" pitchFamily="34" charset="-120"/>
              </a:rPr>
              <a:t>to Terraform</a:t>
            </a:r>
            <a:endParaRPr lang="en-US" sz="6000" dirty="0"/>
          </a:p>
        </p:txBody>
      </p:sp>
      <p:pic>
        <p:nvPicPr>
          <p:cNvPr id="4" name="Image 0" descr="line"/>
          <p:cNvPicPr>
            <a:picLocks noChangeAspect="1"/>
          </p:cNvPicPr>
          <p:nvPr/>
        </p:nvPicPr>
        <p:blipFill>
          <a:blip r:embed="rId3"/>
          <a:srcRect/>
          <a:stretch/>
        </p:blipFill>
        <p:spPr>
          <a:xfrm>
            <a:off x="812800" y="4140200"/>
            <a:ext cx="1016000" cy="50800"/>
          </a:xfrm>
          <a:prstGeom prst="rect">
            <a:avLst/>
          </a:prstGeom>
        </p:spPr>
      </p:pic>
      <p:sp>
        <p:nvSpPr>
          <p:cNvPr id="5" name="Text 2"/>
          <p:cNvSpPr/>
          <p:nvPr/>
        </p:nvSpPr>
        <p:spPr>
          <a:xfrm>
            <a:off x="812800" y="4445000"/>
            <a:ext cx="10883392" cy="452107"/>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C4CFDC"/>
                </a:solidFill>
                <a:latin typeface="Arial" pitchFamily="34" charset="0"/>
                <a:ea typeface="Arial" pitchFamily="34" charset="-122"/>
                <a:cs typeface="Arial" pitchFamily="34" charset="-120"/>
              </a:rPr>
              <a:t>Letting AI do the boring parts</a:t>
            </a:r>
            <a:endParaRPr lang="en-US" sz="2400" dirty="0"/>
          </a:p>
        </p:txBody>
      </p:sp>
      <p:sp>
        <p:nvSpPr>
          <p:cNvPr id="6" name="Text 3"/>
          <p:cNvSpPr/>
          <p:nvPr/>
        </p:nvSpPr>
        <p:spPr>
          <a:xfrm>
            <a:off x="812800" y="6202693"/>
            <a:ext cx="10883392" cy="274307"/>
          </a:xfrm>
          <a:prstGeom prst="rect">
            <a:avLst/>
          </a:prstGeom>
          <a:noFill/>
          <a:ln/>
        </p:spPr>
        <p:txBody>
          <a:bodyPr wrap="square" lIns="0" tIns="0" rIns="0" bIns="0" rtlCol="0" anchor="t">
            <a:normAutofit/>
          </a:bodyPr>
          <a:lstStyle/>
          <a:p>
            <a:pPr>
              <a:lnSpc>
                <a:spcPts val="1960"/>
              </a:lnSpc>
            </a:pPr>
            <a:r>
              <a:rPr lang="en-US" sz="1400" dirty="0">
                <a:solidFill>
                  <a:srgbClr val="8EA0B8"/>
                </a:solidFill>
                <a:latin typeface="Arial" pitchFamily="34" charset="0"/>
                <a:ea typeface="Arial" pitchFamily="34" charset="-122"/>
                <a:cs typeface="Arial" pitchFamily="34" charset="-120"/>
              </a:rPr>
              <a:t>Chad Green · Senior Systems Architect · Jasper Engines &amp; Transmissions · AI Rising · 2026-10-19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THE PROBLEM</a:t>
            </a:r>
            <a:endParaRPr lang="en-US" sz="1400" dirty="0"/>
          </a:p>
        </p:txBody>
      </p:sp>
      <p:sp>
        <p:nvSpPr>
          <p:cNvPr id="3" name="Text 1"/>
          <p:cNvSpPr>
            <a:spLocks noGrp="1"/>
          </p:cNvSpPr>
          <p:nvPr>
            <p:ph type="title"/>
          </p:nvPr>
        </p:nvSpPr>
        <p:spPr>
          <a:xfrm>
            <a:off x="812800" y="1315707"/>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0E1A2B"/>
                </a:solidFill>
                <a:latin typeface="Arial" pitchFamily="34" charset="0"/>
                <a:ea typeface="Arial" pitchFamily="34" charset="-122"/>
                <a:cs typeface="Arial" pitchFamily="34" charset="-120"/>
              </a:rPr>
              <a:t>Infrastructure was the bottleneck</a:t>
            </a:r>
            <a:endParaRPr lang="en-US" sz="4000" dirty="0"/>
          </a:p>
        </p:txBody>
      </p:sp>
      <p:sp>
        <p:nvSpPr>
          <p:cNvPr id="4" name="Text 2"/>
          <p:cNvSpPr/>
          <p:nvPr/>
        </p:nvSpPr>
        <p:spPr>
          <a:xfrm>
            <a:off x="812800" y="3223220"/>
            <a:ext cx="5363210"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2A64C9"/>
                </a:solidFill>
                <a:latin typeface="Arial" pitchFamily="34" charset="0"/>
                <a:ea typeface="Arial" pitchFamily="34" charset="-122"/>
                <a:cs typeface="Arial" pitchFamily="34" charset="-120"/>
              </a:rPr>
              <a:t>2 weeks</a:t>
            </a:r>
            <a:endParaRPr lang="en-US" sz="9000" dirty="0"/>
          </a:p>
        </p:txBody>
      </p:sp>
      <p:sp>
        <p:nvSpPr>
          <p:cNvPr id="5" name="Text 3"/>
          <p:cNvSpPr/>
          <p:nvPr/>
        </p:nvSpPr>
        <p:spPr>
          <a:xfrm>
            <a:off x="812800" y="4417020"/>
            <a:ext cx="561340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3B4656"/>
                </a:solidFill>
                <a:latin typeface="Arial" pitchFamily="34" charset="0"/>
                <a:ea typeface="Arial" pitchFamily="34" charset="-122"/>
                <a:cs typeface="Arial" pitchFamily="34" charset="-120"/>
              </a:rPr>
              <a:t>to build the infrastructure for each new service</a:t>
            </a:r>
            <a:endParaRPr lang="en-US" sz="2000" dirty="0"/>
          </a:p>
        </p:txBody>
      </p:sp>
      <p:sp>
        <p:nvSpPr>
          <p:cNvPr id="6" name="Text 4"/>
          <p:cNvSpPr/>
          <p:nvPr/>
        </p:nvSpPr>
        <p:spPr>
          <a:xfrm>
            <a:off x="6429375" y="2619442"/>
            <a:ext cx="4946650" cy="705644"/>
          </a:xfrm>
          <a:prstGeom prst="roundRect">
            <a:avLst>
              <a:gd name="adj" fmla="val 13948"/>
            </a:avLst>
          </a:prstGeom>
          <a:solidFill>
            <a:srgbClr val="FDFCF9"/>
          </a:solidFill>
          <a:ln w="6350">
            <a:solidFill>
              <a:srgbClr val="DAD8CF"/>
            </a:solidFill>
            <a:prstDash val="solid"/>
          </a:ln>
        </p:spPr>
        <p:txBody>
          <a:bodyPr wrap="square" lIns="175431" tIns="175431" rIns="39287" bIns="150031"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Developers waiting with nowhere to deploy</a:t>
            </a:r>
            <a:endParaRPr lang="en-US" sz="1800" dirty="0"/>
          </a:p>
        </p:txBody>
      </p:sp>
      <p:sp>
        <p:nvSpPr>
          <p:cNvPr id="7" name="Text 5"/>
          <p:cNvSpPr/>
          <p:nvPr/>
        </p:nvSpPr>
        <p:spPr>
          <a:xfrm>
            <a:off x="6429375" y="3483835"/>
            <a:ext cx="4946650" cy="1002771"/>
          </a:xfrm>
          <a:prstGeom prst="roundRect">
            <a:avLst>
              <a:gd name="adj" fmla="val 9815"/>
            </a:avLst>
          </a:prstGeom>
          <a:solidFill>
            <a:srgbClr val="FDFCF9"/>
          </a:solidFill>
          <a:ln w="6350">
            <a:solidFill>
              <a:srgbClr val="DAD8CF"/>
            </a:solidFill>
            <a:prstDash val="solid"/>
          </a:ln>
        </p:spPr>
        <p:txBody>
          <a:bodyPr wrap="square" lIns="175431" tIns="175431" rIns="39287" bIns="150031"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The same Terraform patterns rewritten each time</a:t>
            </a:r>
            <a:endParaRPr lang="en-US" sz="1800" dirty="0"/>
          </a:p>
        </p:txBody>
      </p:sp>
      <p:sp>
        <p:nvSpPr>
          <p:cNvPr id="8" name="Text 6"/>
          <p:cNvSpPr/>
          <p:nvPr/>
        </p:nvSpPr>
        <p:spPr>
          <a:xfrm>
            <a:off x="6429375" y="4645356"/>
            <a:ext cx="4946650" cy="705644"/>
          </a:xfrm>
          <a:prstGeom prst="roundRect">
            <a:avLst>
              <a:gd name="adj" fmla="val 13948"/>
            </a:avLst>
          </a:prstGeom>
          <a:solidFill>
            <a:srgbClr val="FDFCF9"/>
          </a:solidFill>
          <a:ln w="6350">
            <a:solidFill>
              <a:srgbClr val="DAD8CF"/>
            </a:solidFill>
            <a:prstDash val="solid"/>
          </a:ln>
        </p:spPr>
        <p:txBody>
          <a:bodyPr wrap="square" lIns="175431" tIns="175431" rIns="39287" bIns="150031"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Review gates on every build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0E1A2B"/>
                </a:solidFill>
                <a:latin typeface="Arial" pitchFamily="34" charset="0"/>
                <a:ea typeface="Arial" pitchFamily="34" charset="-122"/>
                <a:cs typeface="Arial" pitchFamily="34" charset="-120"/>
              </a:rPr>
              <a:t>From two weeks to two days</a:t>
            </a:r>
            <a:endParaRPr lang="en-US" sz="4000" dirty="0"/>
          </a:p>
        </p:txBody>
      </p:sp>
      <p:sp>
        <p:nvSpPr>
          <p:cNvPr id="3" name="Shape 1"/>
          <p:cNvSpPr/>
          <p:nvPr/>
        </p:nvSpPr>
        <p:spPr>
          <a:xfrm>
            <a:off x="812800" y="1676400"/>
            <a:ext cx="5177367" cy="4165600"/>
          </a:xfrm>
          <a:prstGeom prst="roundRect">
            <a:avLst>
              <a:gd name="adj" fmla="val 3049"/>
            </a:avLst>
          </a:prstGeom>
          <a:solidFill>
            <a:srgbClr val="0E1A2B"/>
          </a:solidFill>
          <a:ln/>
        </p:spPr>
        <p:txBody>
          <a:bodyPr/>
          <a:lstStyle/>
          <a:p>
            <a:endParaRPr lang="en-US"/>
          </a:p>
        </p:txBody>
      </p:sp>
      <p:sp>
        <p:nvSpPr>
          <p:cNvPr id="4" name="Text 2"/>
          <p:cNvSpPr/>
          <p:nvPr/>
        </p:nvSpPr>
        <p:spPr>
          <a:xfrm>
            <a:off x="1168400" y="2032000"/>
            <a:ext cx="460015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2B134"/>
                </a:solidFill>
                <a:latin typeface="Courier New" pitchFamily="49" charset="0"/>
                <a:ea typeface="Courier New" pitchFamily="49" charset="-122"/>
                <a:cs typeface="Courier New" pitchFamily="49" charset="-120"/>
              </a:rPr>
              <a:t>THE CLAIM</a:t>
            </a:r>
            <a:endParaRPr lang="en-US" sz="1400" dirty="0"/>
          </a:p>
        </p:txBody>
      </p:sp>
      <p:sp>
        <p:nvSpPr>
          <p:cNvPr id="5" name="Text 3"/>
          <p:cNvSpPr/>
          <p:nvPr/>
        </p:nvSpPr>
        <p:spPr>
          <a:xfrm>
            <a:off x="1168400" y="2433307"/>
            <a:ext cx="4600152" cy="1263650"/>
          </a:xfrm>
          <a:prstGeom prst="rect">
            <a:avLst/>
          </a:prstGeom>
          <a:noFill/>
          <a:ln/>
        </p:spPr>
        <p:txBody>
          <a:bodyPr wrap="square" lIns="0" tIns="0" rIns="0" bIns="0" rtlCol="0" anchor="t">
            <a:normAutofit/>
          </a:bodyPr>
          <a:lstStyle/>
          <a:p>
            <a:pPr marL="0" indent="0" algn="l">
              <a:lnSpc>
                <a:spcPts val="3250"/>
              </a:lnSpc>
              <a:buNone/>
            </a:pPr>
            <a:r>
              <a:rPr lang="en-US" sz="2600" dirty="0">
                <a:solidFill>
                  <a:srgbClr val="F7F6F1"/>
                </a:solidFill>
                <a:latin typeface="Arial" pitchFamily="34" charset="0"/>
                <a:ea typeface="Arial" pitchFamily="34" charset="-122"/>
                <a:cs typeface="Arial" pitchFamily="34" charset="-120"/>
              </a:rPr>
              <a:t>“I can take our two-week infrastructure build and shrink it to two days.”</a:t>
            </a:r>
            <a:endParaRPr lang="en-US" sz="2600" dirty="0"/>
          </a:p>
        </p:txBody>
      </p:sp>
      <p:sp>
        <p:nvSpPr>
          <p:cNvPr id="6" name="Text 4"/>
          <p:cNvSpPr/>
          <p:nvPr/>
        </p:nvSpPr>
        <p:spPr>
          <a:xfrm>
            <a:off x="1168400" y="3823957"/>
            <a:ext cx="460015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4CFDC"/>
                </a:solidFill>
                <a:latin typeface="Arial" pitchFamily="34" charset="0"/>
                <a:ea typeface="Arial" pitchFamily="34" charset="-122"/>
                <a:cs typeface="Arial" pitchFamily="34" charset="-120"/>
              </a:rPr>
              <a:t>The room went silent.</a:t>
            </a:r>
            <a:endParaRPr lang="en-US" sz="1600" dirty="0"/>
          </a:p>
        </p:txBody>
      </p:sp>
      <p:grpSp>
        <p:nvGrpSpPr>
          <p:cNvPr id="11" name="Group 10">
            <a:extLst>
              <a:ext uri="{FF2B5EF4-FFF2-40B4-BE49-F238E27FC236}">
                <a16:creationId xmlns:a16="http://schemas.microsoft.com/office/drawing/2014/main" id="{D2EAD3DD-239C-757E-9A5A-CDC3BA426AF6}"/>
              </a:ext>
            </a:extLst>
          </p:cNvPr>
          <p:cNvGrpSpPr/>
          <p:nvPr/>
        </p:nvGrpSpPr>
        <p:grpSpPr>
          <a:xfrm>
            <a:off x="6196542" y="1679575"/>
            <a:ext cx="5179483" cy="4159250"/>
            <a:chOff x="6196542" y="1679575"/>
            <a:chExt cx="5179483" cy="4159250"/>
          </a:xfrm>
        </p:grpSpPr>
        <p:sp>
          <p:nvSpPr>
            <p:cNvPr id="7" name="Shape 5"/>
            <p:cNvSpPr/>
            <p:nvPr/>
          </p:nvSpPr>
          <p:spPr>
            <a:xfrm>
              <a:off x="6196542" y="1679575"/>
              <a:ext cx="5179483" cy="4159250"/>
            </a:xfrm>
            <a:prstGeom prst="roundRect">
              <a:avLst>
                <a:gd name="adj" fmla="val 2977"/>
              </a:avLst>
            </a:prstGeom>
            <a:solidFill>
              <a:srgbClr val="FDFCF9"/>
            </a:solidFill>
            <a:ln w="6350">
              <a:solidFill>
                <a:srgbClr val="DAD8CF"/>
              </a:solidFill>
              <a:prstDash val="solid"/>
            </a:ln>
          </p:spPr>
          <p:txBody>
            <a:bodyPr/>
            <a:lstStyle/>
            <a:p>
              <a:endParaRPr lang="en-US"/>
            </a:p>
          </p:txBody>
        </p:sp>
        <p:sp>
          <p:nvSpPr>
            <p:cNvPr id="8" name="Text 6"/>
            <p:cNvSpPr/>
            <p:nvPr/>
          </p:nvSpPr>
          <p:spPr>
            <a:xfrm>
              <a:off x="6553200" y="2036234"/>
              <a:ext cx="460015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THE PROTOTYPE</a:t>
              </a:r>
              <a:endParaRPr lang="en-US" sz="1400" dirty="0"/>
            </a:p>
          </p:txBody>
        </p:sp>
        <p:sp>
          <p:nvSpPr>
            <p:cNvPr id="9" name="Text 7"/>
            <p:cNvSpPr/>
            <p:nvPr/>
          </p:nvSpPr>
          <p:spPr>
            <a:xfrm>
              <a:off x="6553200" y="2437541"/>
              <a:ext cx="4600152" cy="850900"/>
            </a:xfrm>
            <a:prstGeom prst="rect">
              <a:avLst/>
            </a:prstGeom>
            <a:noFill/>
            <a:ln/>
          </p:spPr>
          <p:txBody>
            <a:bodyPr wrap="square" lIns="0" tIns="0" rIns="0" bIns="0" rtlCol="0" anchor="t">
              <a:normAutofit/>
            </a:bodyPr>
            <a:lstStyle/>
            <a:p>
              <a:pPr marL="0" indent="0" algn="l">
                <a:lnSpc>
                  <a:spcPts val="3250"/>
                </a:lnSpc>
                <a:buNone/>
              </a:pPr>
              <a:r>
                <a:rPr lang="en-US" sz="2600" dirty="0">
                  <a:solidFill>
                    <a:srgbClr val="0E1A2B"/>
                  </a:solidFill>
                  <a:latin typeface="Arial" pitchFamily="34" charset="0"/>
                  <a:ea typeface="Arial" pitchFamily="34" charset="-122"/>
                  <a:cs typeface="Arial" pitchFamily="34" charset="-120"/>
                </a:rPr>
                <a:t>Architecture docs, then AI, then Terraform. It worked.</a:t>
              </a:r>
              <a:endParaRPr lang="en-US" sz="2600" dirty="0"/>
            </a:p>
          </p:txBody>
        </p:sp>
        <p:sp>
          <p:nvSpPr>
            <p:cNvPr id="10" name="Text 8"/>
            <p:cNvSpPr/>
            <p:nvPr/>
          </p:nvSpPr>
          <p:spPr>
            <a:xfrm>
              <a:off x="6553200" y="3415441"/>
              <a:ext cx="4600152"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56"/>
                  </a:solidFill>
                  <a:latin typeface="Arial" pitchFamily="34" charset="0"/>
                  <a:ea typeface="Arial" pitchFamily="34" charset="-122"/>
                  <a:cs typeface="Arial" pitchFamily="34" charset="-120"/>
                </a:rPr>
                <a:t>AI read the architecture and chose our opinionated modules. The output passed validate and tflint on the first run.</a:t>
              </a:r>
              <a:endParaRPr lang="en-US" sz="16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1651729"/>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7DB0FF"/>
                </a:solidFill>
                <a:latin typeface="Courier New" pitchFamily="49" charset="0"/>
                <a:ea typeface="Courier New" pitchFamily="49" charset="-122"/>
                <a:cs typeface="Courier New" pitchFamily="49" charset="-120"/>
              </a:rPr>
              <a:t>THEN WE RAN IT AGAIN</a:t>
            </a:r>
            <a:endParaRPr lang="en-US" sz="1400" dirty="0"/>
          </a:p>
        </p:txBody>
      </p:sp>
      <p:sp>
        <p:nvSpPr>
          <p:cNvPr id="3" name="Text 1"/>
          <p:cNvSpPr/>
          <p:nvPr/>
        </p:nvSpPr>
        <p:spPr>
          <a:xfrm>
            <a:off x="812800" y="2129234"/>
            <a:ext cx="10883392" cy="513027"/>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C4CFDC"/>
                </a:solidFill>
                <a:latin typeface="Arial" pitchFamily="34" charset="0"/>
                <a:ea typeface="Arial" pitchFamily="34" charset="-122"/>
                <a:cs typeface="Arial" pitchFamily="34" charset="-120"/>
              </a:rPr>
              <a:t>Same input. Same prompt. Same model.</a:t>
            </a:r>
            <a:endParaRPr lang="en-US" sz="3200" dirty="0"/>
          </a:p>
        </p:txBody>
      </p:sp>
      <p:sp>
        <p:nvSpPr>
          <p:cNvPr id="4" name="Text 2"/>
          <p:cNvSpPr>
            <a:spLocks noGrp="1"/>
          </p:cNvSpPr>
          <p:nvPr>
            <p:ph type="title"/>
          </p:nvPr>
        </p:nvSpPr>
        <p:spPr>
          <a:xfrm>
            <a:off x="812800" y="2845462"/>
            <a:ext cx="10883392" cy="905470"/>
          </a:xfrm>
          <a:prstGeom prst="rect">
            <a:avLst/>
          </a:prstGeom>
          <a:noFill/>
          <a:ln/>
        </p:spPr>
        <p:txBody>
          <a:bodyPr wrap="square" lIns="0" tIns="0" rIns="0" bIns="0" rtlCol="0" anchor="t">
            <a:normAutofit/>
          </a:bodyPr>
          <a:lstStyle/>
          <a:p>
            <a:pPr marL="0" indent="0" algn="l">
              <a:lnSpc>
                <a:spcPts val="6930"/>
              </a:lnSpc>
              <a:buNone/>
            </a:pPr>
            <a:r>
              <a:rPr lang="en-US" sz="6600" b="1" i="0" dirty="0">
                <a:solidFill>
                  <a:srgbClr val="F2B134"/>
                </a:solidFill>
                <a:latin typeface="Arial" pitchFamily="34" charset="0"/>
                <a:ea typeface="Arial" pitchFamily="34" charset="-122"/>
                <a:cs typeface="Arial" pitchFamily="34" charset="-120"/>
              </a:rPr>
              <a:t>Different Terraform.</a:t>
            </a:r>
            <a:endParaRPr lang="en-US" sz="6600" dirty="0"/>
          </a:p>
        </p:txBody>
      </p:sp>
      <p:sp>
        <p:nvSpPr>
          <p:cNvPr id="5" name="Text 3"/>
          <p:cNvSpPr/>
          <p:nvPr/>
        </p:nvSpPr>
        <p:spPr>
          <a:xfrm>
            <a:off x="819150" y="3960482"/>
            <a:ext cx="1242219" cy="510514"/>
          </a:xfrm>
          <a:prstGeom prst="roundRect">
            <a:avLst>
              <a:gd name="adj" fmla="val 48510"/>
            </a:avLst>
          </a:prstGeom>
          <a:noFill/>
          <a:ln w="12700">
            <a:solidFill>
              <a:srgbClr val="3A4B63"/>
            </a:solidFill>
            <a:prstDash val="solid"/>
          </a:ln>
        </p:spPr>
        <p:txBody>
          <a:bodyPr wrap="none" lIns="0" tIns="0" rIns="0" bIns="0" rtlCol="0" anchor="ctr">
            <a:normAutofit/>
          </a:bodyPr>
          <a:lstStyle/>
          <a:p>
            <a:pPr marL="0" indent="0" algn="ctr">
              <a:lnSpc>
                <a:spcPts val="2520"/>
              </a:lnSpc>
              <a:buNone/>
            </a:pPr>
            <a:r>
              <a:rPr lang="en-US" sz="1800" dirty="0">
                <a:solidFill>
                  <a:srgbClr val="F7F6F1"/>
                </a:solidFill>
                <a:latin typeface="Courier New" pitchFamily="49" charset="0"/>
                <a:ea typeface="Courier New" pitchFamily="49" charset="-122"/>
                <a:cs typeface="Courier New" pitchFamily="49" charset="-120"/>
              </a:rPr>
              <a:t>naming</a:t>
            </a:r>
            <a:endParaRPr lang="en-US" sz="1800" dirty="0"/>
          </a:p>
        </p:txBody>
      </p:sp>
      <p:sp>
        <p:nvSpPr>
          <p:cNvPr id="6" name="Text 4"/>
          <p:cNvSpPr/>
          <p:nvPr/>
        </p:nvSpPr>
        <p:spPr>
          <a:xfrm>
            <a:off x="2201069" y="3960482"/>
            <a:ext cx="1516592" cy="510514"/>
          </a:xfrm>
          <a:prstGeom prst="roundRect">
            <a:avLst>
              <a:gd name="adj" fmla="val 48510"/>
            </a:avLst>
          </a:prstGeom>
          <a:noFill/>
          <a:ln w="12700">
            <a:solidFill>
              <a:srgbClr val="3A4B63"/>
            </a:solidFill>
            <a:prstDash val="solid"/>
          </a:ln>
        </p:spPr>
        <p:txBody>
          <a:bodyPr wrap="none" lIns="0" tIns="0" rIns="0" bIns="0" rtlCol="0" anchor="ctr">
            <a:normAutofit/>
          </a:bodyPr>
          <a:lstStyle/>
          <a:p>
            <a:pPr marL="0" indent="0" algn="ctr">
              <a:lnSpc>
                <a:spcPts val="2520"/>
              </a:lnSpc>
              <a:buNone/>
            </a:pPr>
            <a:r>
              <a:rPr lang="en-US" sz="1800" dirty="0">
                <a:solidFill>
                  <a:srgbClr val="F7F6F1"/>
                </a:solidFill>
                <a:latin typeface="Courier New" pitchFamily="49" charset="0"/>
                <a:ea typeface="Courier New" pitchFamily="49" charset="-122"/>
                <a:cs typeface="Courier New" pitchFamily="49" charset="-120"/>
              </a:rPr>
              <a:t>ordering</a:t>
            </a:r>
            <a:endParaRPr lang="en-US" sz="1800" dirty="0"/>
          </a:p>
        </p:txBody>
      </p:sp>
      <p:sp>
        <p:nvSpPr>
          <p:cNvPr id="7" name="Text 5"/>
          <p:cNvSpPr/>
          <p:nvPr/>
        </p:nvSpPr>
        <p:spPr>
          <a:xfrm>
            <a:off x="3857361" y="3960482"/>
            <a:ext cx="1653778" cy="510514"/>
          </a:xfrm>
          <a:prstGeom prst="roundRect">
            <a:avLst>
              <a:gd name="adj" fmla="val 48510"/>
            </a:avLst>
          </a:prstGeom>
          <a:noFill/>
          <a:ln w="12700">
            <a:solidFill>
              <a:srgbClr val="3A4B63"/>
            </a:solidFill>
            <a:prstDash val="solid"/>
          </a:ln>
        </p:spPr>
        <p:txBody>
          <a:bodyPr wrap="none" lIns="0" tIns="0" rIns="0" bIns="0" rtlCol="0" anchor="ctr">
            <a:normAutofit/>
          </a:bodyPr>
          <a:lstStyle/>
          <a:p>
            <a:pPr marL="0" indent="0" algn="ctr">
              <a:lnSpc>
                <a:spcPts val="2520"/>
              </a:lnSpc>
              <a:buNone/>
            </a:pPr>
            <a:r>
              <a:rPr lang="en-US" sz="1800" dirty="0">
                <a:solidFill>
                  <a:srgbClr val="F7F6F1"/>
                </a:solidFill>
                <a:latin typeface="Courier New" pitchFamily="49" charset="0"/>
                <a:ea typeface="Courier New" pitchFamily="49" charset="-122"/>
                <a:cs typeface="Courier New" pitchFamily="49" charset="-120"/>
              </a:rPr>
              <a:t>structure</a:t>
            </a:r>
            <a:endParaRPr lang="en-US" sz="1800" dirty="0"/>
          </a:p>
        </p:txBody>
      </p:sp>
      <p:sp>
        <p:nvSpPr>
          <p:cNvPr id="8" name="Text 6"/>
          <p:cNvSpPr/>
          <p:nvPr/>
        </p:nvSpPr>
        <p:spPr>
          <a:xfrm>
            <a:off x="5650839" y="3960482"/>
            <a:ext cx="967846" cy="510514"/>
          </a:xfrm>
          <a:prstGeom prst="roundRect">
            <a:avLst>
              <a:gd name="adj" fmla="val 48510"/>
            </a:avLst>
          </a:prstGeom>
          <a:noFill/>
          <a:ln w="12700">
            <a:solidFill>
              <a:srgbClr val="3A4B63"/>
            </a:solidFill>
            <a:prstDash val="solid"/>
          </a:ln>
        </p:spPr>
        <p:txBody>
          <a:bodyPr wrap="none" lIns="0" tIns="0" rIns="0" bIns="0" rtlCol="0" anchor="ctr">
            <a:normAutofit/>
          </a:bodyPr>
          <a:lstStyle/>
          <a:p>
            <a:pPr marL="0" indent="0" algn="ctr">
              <a:lnSpc>
                <a:spcPts val="2520"/>
              </a:lnSpc>
              <a:buNone/>
            </a:pPr>
            <a:r>
              <a:rPr lang="en-US" sz="1800" dirty="0">
                <a:solidFill>
                  <a:srgbClr val="F7F6F1"/>
                </a:solidFill>
                <a:latin typeface="Courier New" pitchFamily="49" charset="0"/>
                <a:ea typeface="Courier New" pitchFamily="49" charset="-122"/>
                <a:cs typeface="Courier New" pitchFamily="49" charset="-120"/>
              </a:rPr>
              <a:t>tags</a:t>
            </a:r>
            <a:endParaRPr lang="en-US" sz="1800" dirty="0"/>
          </a:p>
        </p:txBody>
      </p:sp>
      <p:sp>
        <p:nvSpPr>
          <p:cNvPr id="9" name="Text 7"/>
          <p:cNvSpPr/>
          <p:nvPr/>
        </p:nvSpPr>
        <p:spPr>
          <a:xfrm>
            <a:off x="6758384" y="3960482"/>
            <a:ext cx="1516592" cy="510514"/>
          </a:xfrm>
          <a:prstGeom prst="roundRect">
            <a:avLst>
              <a:gd name="adj" fmla="val 48510"/>
            </a:avLst>
          </a:prstGeom>
          <a:noFill/>
          <a:ln w="12700">
            <a:solidFill>
              <a:srgbClr val="3A4B63"/>
            </a:solidFill>
            <a:prstDash val="solid"/>
          </a:ln>
        </p:spPr>
        <p:txBody>
          <a:bodyPr wrap="none" lIns="0" tIns="0" rIns="0" bIns="0" rtlCol="0" anchor="ctr">
            <a:normAutofit/>
          </a:bodyPr>
          <a:lstStyle/>
          <a:p>
            <a:pPr marL="0" indent="0" algn="ctr">
              <a:lnSpc>
                <a:spcPts val="2520"/>
              </a:lnSpc>
              <a:buNone/>
            </a:pPr>
            <a:r>
              <a:rPr lang="en-US" sz="1800" dirty="0">
                <a:solidFill>
                  <a:srgbClr val="F7F6F1"/>
                </a:solidFill>
                <a:latin typeface="Courier New" pitchFamily="49" charset="0"/>
                <a:ea typeface="Courier New" pitchFamily="49" charset="-122"/>
                <a:cs typeface="Courier New" pitchFamily="49" charset="-120"/>
              </a:rPr>
              <a:t>comments</a:t>
            </a:r>
            <a:endParaRPr lang="en-US" sz="1800" dirty="0"/>
          </a:p>
        </p:txBody>
      </p:sp>
      <p:sp>
        <p:nvSpPr>
          <p:cNvPr id="10" name="Text 8"/>
          <p:cNvSpPr/>
          <p:nvPr/>
        </p:nvSpPr>
        <p:spPr>
          <a:xfrm>
            <a:off x="812800" y="4705945"/>
            <a:ext cx="10883392"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C4CFDC"/>
                </a:solidFill>
                <a:latin typeface="Arial" pitchFamily="34" charset="0"/>
                <a:ea typeface="Arial" pitchFamily="34" charset="-122"/>
                <a:cs typeface="Arial" pitchFamily="34" charset="-120"/>
              </a:rPr>
              <a:t>Both versions were plausible. Neither was reproducible.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0E1A2B"/>
                </a:solidFill>
                <a:latin typeface="Arial" pitchFamily="34" charset="0"/>
                <a:ea typeface="Arial" pitchFamily="34" charset="-122"/>
                <a:cs typeface="Arial" pitchFamily="34" charset="-120"/>
              </a:rPr>
              <a:t>Split the job in two</a:t>
            </a:r>
            <a:endParaRPr lang="en-US" sz="4000" dirty="0"/>
          </a:p>
        </p:txBody>
      </p:sp>
      <p:grpSp>
        <p:nvGrpSpPr>
          <p:cNvPr id="30" name="Group 29">
            <a:extLst>
              <a:ext uri="{FF2B5EF4-FFF2-40B4-BE49-F238E27FC236}">
                <a16:creationId xmlns:a16="http://schemas.microsoft.com/office/drawing/2014/main" id="{74A57ECA-DA46-5717-DADC-E7525FD2F390}"/>
              </a:ext>
            </a:extLst>
          </p:cNvPr>
          <p:cNvGrpSpPr/>
          <p:nvPr/>
        </p:nvGrpSpPr>
        <p:grpSpPr>
          <a:xfrm>
            <a:off x="819150" y="1682750"/>
            <a:ext cx="1866900" cy="3378200"/>
            <a:chOff x="819150" y="1682750"/>
            <a:chExt cx="1866900" cy="3378200"/>
          </a:xfrm>
        </p:grpSpPr>
        <p:sp>
          <p:nvSpPr>
            <p:cNvPr id="3" name="Shape 1"/>
            <p:cNvSpPr/>
            <p:nvPr/>
          </p:nvSpPr>
          <p:spPr>
            <a:xfrm>
              <a:off x="819150" y="1682750"/>
              <a:ext cx="1866900" cy="3378200"/>
            </a:xfrm>
            <a:prstGeom prst="roundRect">
              <a:avLst>
                <a:gd name="adj" fmla="val 5102"/>
              </a:avLst>
            </a:prstGeom>
            <a:solidFill>
              <a:srgbClr val="FDFCF9"/>
            </a:solidFill>
            <a:ln w="12700">
              <a:solidFill>
                <a:srgbClr val="C9C6BA"/>
              </a:solidFill>
              <a:prstDash val="solid"/>
            </a:ln>
          </p:spPr>
          <p:txBody>
            <a:bodyPr/>
            <a:lstStyle/>
            <a:p>
              <a:endParaRPr lang="en-US"/>
            </a:p>
          </p:txBody>
        </p:sp>
        <p:sp>
          <p:nvSpPr>
            <p:cNvPr id="4" name="Text 2"/>
            <p:cNvSpPr/>
            <p:nvPr/>
          </p:nvSpPr>
          <p:spPr>
            <a:xfrm>
              <a:off x="952500" y="2952155"/>
              <a:ext cx="165100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3B4656"/>
                  </a:solidFill>
                  <a:latin typeface="Courier New" pitchFamily="49" charset="0"/>
                  <a:ea typeface="Courier New" pitchFamily="49" charset="-122"/>
                  <a:cs typeface="Courier New" pitchFamily="49" charset="-120"/>
                </a:rPr>
                <a:t>HUMAN</a:t>
              </a:r>
              <a:endParaRPr lang="en-US" sz="1200" dirty="0"/>
            </a:p>
          </p:txBody>
        </p:sp>
        <p:sp>
          <p:nvSpPr>
            <p:cNvPr id="5" name="Text 3"/>
            <p:cNvSpPr/>
            <p:nvPr/>
          </p:nvSpPr>
          <p:spPr>
            <a:xfrm>
              <a:off x="952500" y="3241675"/>
              <a:ext cx="165100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1A2B"/>
                  </a:solidFill>
                  <a:latin typeface="Arial" pitchFamily="34" charset="0"/>
                  <a:ea typeface="Arial" pitchFamily="34" charset="-122"/>
                  <a:cs typeface="Arial" pitchFamily="34" charset="-120"/>
                </a:rPr>
                <a:t>Architecture</a:t>
              </a:r>
              <a:endParaRPr lang="en-US" sz="1700" dirty="0"/>
            </a:p>
          </p:txBody>
        </p:sp>
        <p:sp>
          <p:nvSpPr>
            <p:cNvPr id="6" name="Text 4"/>
            <p:cNvSpPr/>
            <p:nvPr/>
          </p:nvSpPr>
          <p:spPr>
            <a:xfrm>
              <a:off x="952500" y="3576904"/>
              <a:ext cx="1651000" cy="239977"/>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B4656"/>
                  </a:solidFill>
                  <a:latin typeface="Arial" pitchFamily="34" charset="0"/>
                  <a:ea typeface="Arial" pitchFamily="34" charset="-122"/>
                  <a:cs typeface="Arial" pitchFamily="34" charset="-120"/>
                </a:rPr>
                <a:t>written for people</a:t>
              </a:r>
              <a:endParaRPr lang="en-US" sz="1300" dirty="0"/>
            </a:p>
          </p:txBody>
        </p:sp>
      </p:grpSp>
      <p:pic>
        <p:nvPicPr>
          <p:cNvPr id="7" name="Image 0" descr="arrow-right"/>
          <p:cNvPicPr>
            <a:picLocks noChangeAspect="1"/>
          </p:cNvPicPr>
          <p:nvPr/>
        </p:nvPicPr>
        <p:blipFill>
          <a:blip r:embed="rId3"/>
          <a:srcRect/>
          <a:stretch/>
        </p:blipFill>
        <p:spPr>
          <a:xfrm>
            <a:off x="2692400" y="3244850"/>
            <a:ext cx="292100" cy="254000"/>
          </a:xfrm>
          <a:prstGeom prst="rect">
            <a:avLst/>
          </a:prstGeom>
        </p:spPr>
      </p:pic>
      <p:grpSp>
        <p:nvGrpSpPr>
          <p:cNvPr id="31" name="Group 30">
            <a:extLst>
              <a:ext uri="{FF2B5EF4-FFF2-40B4-BE49-F238E27FC236}">
                <a16:creationId xmlns:a16="http://schemas.microsoft.com/office/drawing/2014/main" id="{35E20E48-568D-3F67-7823-01B73A3E8E70}"/>
              </a:ext>
            </a:extLst>
          </p:cNvPr>
          <p:cNvGrpSpPr/>
          <p:nvPr/>
        </p:nvGrpSpPr>
        <p:grpSpPr>
          <a:xfrm>
            <a:off x="2997200" y="1689100"/>
            <a:ext cx="1854200" cy="3365500"/>
            <a:chOff x="2997200" y="1689100"/>
            <a:chExt cx="1854200" cy="3365500"/>
          </a:xfrm>
        </p:grpSpPr>
        <p:sp>
          <p:nvSpPr>
            <p:cNvPr id="8" name="Shape 5"/>
            <p:cNvSpPr/>
            <p:nvPr/>
          </p:nvSpPr>
          <p:spPr>
            <a:xfrm>
              <a:off x="2997200" y="1689100"/>
              <a:ext cx="1854200" cy="3365500"/>
            </a:xfrm>
            <a:prstGeom prst="roundRect">
              <a:avLst>
                <a:gd name="adj" fmla="val 4795"/>
              </a:avLst>
            </a:prstGeom>
            <a:solidFill>
              <a:srgbClr val="FDFCF9"/>
            </a:solidFill>
            <a:ln w="25400">
              <a:solidFill>
                <a:srgbClr val="2A64C9"/>
              </a:solidFill>
              <a:prstDash val="solid"/>
            </a:ln>
          </p:spPr>
          <p:txBody>
            <a:bodyPr/>
            <a:lstStyle/>
            <a:p>
              <a:endParaRPr lang="en-US"/>
            </a:p>
          </p:txBody>
        </p:sp>
        <p:sp>
          <p:nvSpPr>
            <p:cNvPr id="9" name="Text 6"/>
            <p:cNvSpPr/>
            <p:nvPr/>
          </p:nvSpPr>
          <p:spPr>
            <a:xfrm>
              <a:off x="3136900" y="2952155"/>
              <a:ext cx="162560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2A64C9"/>
                  </a:solidFill>
                  <a:latin typeface="Courier New" pitchFamily="49" charset="0"/>
                  <a:ea typeface="Courier New" pitchFamily="49" charset="-122"/>
                  <a:cs typeface="Courier New" pitchFamily="49" charset="-120"/>
                </a:rPr>
                <a:t>FUZZY WORK</a:t>
              </a:r>
              <a:endParaRPr lang="en-US" sz="1200" dirty="0"/>
            </a:p>
          </p:txBody>
        </p:sp>
        <p:sp>
          <p:nvSpPr>
            <p:cNvPr id="10" name="Text 7"/>
            <p:cNvSpPr/>
            <p:nvPr/>
          </p:nvSpPr>
          <p:spPr>
            <a:xfrm>
              <a:off x="3136900" y="3241675"/>
              <a:ext cx="162560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1A2B"/>
                  </a:solidFill>
                  <a:latin typeface="Arial" pitchFamily="34" charset="0"/>
                  <a:ea typeface="Arial" pitchFamily="34" charset="-122"/>
                  <a:cs typeface="Arial" pitchFamily="34" charset="-120"/>
                </a:rPr>
                <a:t>AI</a:t>
              </a:r>
              <a:endParaRPr lang="en-US" sz="1700" dirty="0"/>
            </a:p>
          </p:txBody>
        </p:sp>
        <p:sp>
          <p:nvSpPr>
            <p:cNvPr id="11" name="Text 8"/>
            <p:cNvSpPr/>
            <p:nvPr/>
          </p:nvSpPr>
          <p:spPr>
            <a:xfrm>
              <a:off x="3136900" y="3576904"/>
              <a:ext cx="1625600" cy="239977"/>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B4656"/>
                  </a:solidFill>
                  <a:latin typeface="Arial" pitchFamily="34" charset="0"/>
                  <a:ea typeface="Arial" pitchFamily="34" charset="-122"/>
                  <a:cs typeface="Arial" pitchFamily="34" charset="-120"/>
                </a:rPr>
                <a:t>interprets intent</a:t>
              </a:r>
              <a:endParaRPr lang="en-US" sz="1300" dirty="0"/>
            </a:p>
          </p:txBody>
        </p:sp>
      </p:grpSp>
      <p:pic>
        <p:nvPicPr>
          <p:cNvPr id="12" name="Image 1" descr="arrow-right"/>
          <p:cNvPicPr>
            <a:picLocks noChangeAspect="1"/>
          </p:cNvPicPr>
          <p:nvPr/>
        </p:nvPicPr>
        <p:blipFill>
          <a:blip r:embed="rId3"/>
          <a:srcRect/>
          <a:stretch/>
        </p:blipFill>
        <p:spPr>
          <a:xfrm>
            <a:off x="4864100" y="3244850"/>
            <a:ext cx="292100" cy="254000"/>
          </a:xfrm>
          <a:prstGeom prst="rect">
            <a:avLst/>
          </a:prstGeom>
        </p:spPr>
      </p:pic>
      <p:grpSp>
        <p:nvGrpSpPr>
          <p:cNvPr id="32" name="Group 31">
            <a:extLst>
              <a:ext uri="{FF2B5EF4-FFF2-40B4-BE49-F238E27FC236}">
                <a16:creationId xmlns:a16="http://schemas.microsoft.com/office/drawing/2014/main" id="{B938393E-E5C7-3CBA-B43C-D7D6EBB7968D}"/>
              </a:ext>
            </a:extLst>
          </p:cNvPr>
          <p:cNvGrpSpPr/>
          <p:nvPr/>
        </p:nvGrpSpPr>
        <p:grpSpPr>
          <a:xfrm>
            <a:off x="5156200" y="1676400"/>
            <a:ext cx="1879600" cy="3390900"/>
            <a:chOff x="5156200" y="1676400"/>
            <a:chExt cx="1879600" cy="3390900"/>
          </a:xfrm>
        </p:grpSpPr>
        <p:sp>
          <p:nvSpPr>
            <p:cNvPr id="13" name="Shape 9"/>
            <p:cNvSpPr/>
            <p:nvPr/>
          </p:nvSpPr>
          <p:spPr>
            <a:xfrm>
              <a:off x="5156200" y="1676400"/>
              <a:ext cx="1879600" cy="3390900"/>
            </a:xfrm>
            <a:prstGeom prst="roundRect">
              <a:avLst>
                <a:gd name="adj" fmla="val 5405"/>
              </a:avLst>
            </a:prstGeom>
            <a:solidFill>
              <a:srgbClr val="0E1A2B"/>
            </a:solidFill>
            <a:ln/>
          </p:spPr>
          <p:txBody>
            <a:bodyPr/>
            <a:lstStyle/>
            <a:p>
              <a:endParaRPr lang="en-US"/>
            </a:p>
          </p:txBody>
        </p:sp>
        <p:sp>
          <p:nvSpPr>
            <p:cNvPr id="14" name="Text 10"/>
            <p:cNvSpPr/>
            <p:nvPr/>
          </p:nvSpPr>
          <p:spPr>
            <a:xfrm>
              <a:off x="5283200" y="2844868"/>
              <a:ext cx="167640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F2B134"/>
                  </a:solidFill>
                  <a:latin typeface="Courier New" pitchFamily="49" charset="0"/>
                  <a:ea typeface="Courier New" pitchFamily="49" charset="-122"/>
                  <a:cs typeface="Courier New" pitchFamily="49" charset="-120"/>
                </a:rPr>
                <a:t>THE CONTRACT</a:t>
              </a:r>
              <a:endParaRPr lang="en-US" sz="1200" dirty="0"/>
            </a:p>
          </p:txBody>
        </p:sp>
        <p:sp>
          <p:nvSpPr>
            <p:cNvPr id="15" name="Text 11"/>
            <p:cNvSpPr/>
            <p:nvPr/>
          </p:nvSpPr>
          <p:spPr>
            <a:xfrm>
              <a:off x="5283200" y="3134389"/>
              <a:ext cx="167640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6F1"/>
                  </a:solidFill>
                  <a:latin typeface="Arial" pitchFamily="34" charset="0"/>
                  <a:ea typeface="Arial" pitchFamily="34" charset="-122"/>
                  <a:cs typeface="Arial" pitchFamily="34" charset="-120"/>
                </a:rPr>
                <a:t>YAML</a:t>
              </a:r>
              <a:endParaRPr lang="en-US" sz="1700" dirty="0"/>
            </a:p>
          </p:txBody>
        </p:sp>
        <p:sp>
          <p:nvSpPr>
            <p:cNvPr id="16" name="Text 12"/>
            <p:cNvSpPr/>
            <p:nvPr/>
          </p:nvSpPr>
          <p:spPr>
            <a:xfrm>
              <a:off x="5283200" y="3469615"/>
              <a:ext cx="1676400"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4CFDC"/>
                  </a:solidFill>
                  <a:latin typeface="Arial" pitchFamily="34" charset="0"/>
                  <a:ea typeface="Arial" pitchFamily="34" charset="-122"/>
                  <a:cs typeface="Arial" pitchFamily="34" charset="-120"/>
                </a:rPr>
                <a:t>reviewed and committed</a:t>
              </a:r>
              <a:endParaRPr lang="en-US" sz="1300" dirty="0"/>
            </a:p>
          </p:txBody>
        </p:sp>
      </p:grpSp>
      <p:pic>
        <p:nvPicPr>
          <p:cNvPr id="17" name="Image 2" descr="arrow-right"/>
          <p:cNvPicPr>
            <a:picLocks noChangeAspect="1"/>
          </p:cNvPicPr>
          <p:nvPr/>
        </p:nvPicPr>
        <p:blipFill>
          <a:blip r:embed="rId3"/>
          <a:srcRect/>
          <a:stretch/>
        </p:blipFill>
        <p:spPr>
          <a:xfrm>
            <a:off x="7035800" y="3244850"/>
            <a:ext cx="292100" cy="254000"/>
          </a:xfrm>
          <a:prstGeom prst="rect">
            <a:avLst/>
          </a:prstGeom>
        </p:spPr>
      </p:pic>
      <p:grpSp>
        <p:nvGrpSpPr>
          <p:cNvPr id="33" name="Group 32">
            <a:extLst>
              <a:ext uri="{FF2B5EF4-FFF2-40B4-BE49-F238E27FC236}">
                <a16:creationId xmlns:a16="http://schemas.microsoft.com/office/drawing/2014/main" id="{8DC0B1D8-DBB8-CF34-D49C-0C3F0607BA97}"/>
              </a:ext>
            </a:extLst>
          </p:cNvPr>
          <p:cNvGrpSpPr/>
          <p:nvPr/>
        </p:nvGrpSpPr>
        <p:grpSpPr>
          <a:xfrm>
            <a:off x="7340600" y="1689100"/>
            <a:ext cx="1854200" cy="3365500"/>
            <a:chOff x="7340600" y="1689100"/>
            <a:chExt cx="1854200" cy="3365500"/>
          </a:xfrm>
        </p:grpSpPr>
        <p:sp>
          <p:nvSpPr>
            <p:cNvPr id="18" name="Shape 13"/>
            <p:cNvSpPr/>
            <p:nvPr/>
          </p:nvSpPr>
          <p:spPr>
            <a:xfrm>
              <a:off x="7340600" y="1689100"/>
              <a:ext cx="1854200" cy="3365500"/>
            </a:xfrm>
            <a:prstGeom prst="roundRect">
              <a:avLst>
                <a:gd name="adj" fmla="val 4795"/>
              </a:avLst>
            </a:prstGeom>
            <a:solidFill>
              <a:srgbClr val="FDFCF9"/>
            </a:solidFill>
            <a:ln w="25400">
              <a:solidFill>
                <a:srgbClr val="B4690E"/>
              </a:solidFill>
              <a:prstDash val="solid"/>
            </a:ln>
          </p:spPr>
          <p:txBody>
            <a:bodyPr/>
            <a:lstStyle/>
            <a:p>
              <a:endParaRPr lang="en-US"/>
            </a:p>
          </p:txBody>
        </p:sp>
        <p:sp>
          <p:nvSpPr>
            <p:cNvPr id="19" name="Text 14"/>
            <p:cNvSpPr/>
            <p:nvPr/>
          </p:nvSpPr>
          <p:spPr>
            <a:xfrm>
              <a:off x="7480300" y="2844868"/>
              <a:ext cx="162560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8A4E05"/>
                  </a:solidFill>
                  <a:latin typeface="Courier New" pitchFamily="49" charset="0"/>
                  <a:ea typeface="Courier New" pitchFamily="49" charset="-122"/>
                  <a:cs typeface="Courier New" pitchFamily="49" charset="-120"/>
                </a:rPr>
                <a:t>DETERMINISTIC</a:t>
              </a:r>
              <a:endParaRPr lang="en-US" sz="1200" dirty="0"/>
            </a:p>
          </p:txBody>
        </p:sp>
        <p:sp>
          <p:nvSpPr>
            <p:cNvPr id="20" name="Text 15"/>
            <p:cNvSpPr/>
            <p:nvPr/>
          </p:nvSpPr>
          <p:spPr>
            <a:xfrm>
              <a:off x="7480300" y="3134389"/>
              <a:ext cx="162560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1A2B"/>
                  </a:solidFill>
                  <a:latin typeface="Arial" pitchFamily="34" charset="0"/>
                  <a:ea typeface="Arial" pitchFamily="34" charset="-122"/>
                  <a:cs typeface="Arial" pitchFamily="34" charset="-120"/>
                </a:rPr>
                <a:t>PowerShell</a:t>
              </a:r>
              <a:endParaRPr lang="en-US" sz="1700" dirty="0"/>
            </a:p>
          </p:txBody>
        </p:sp>
        <p:sp>
          <p:nvSpPr>
            <p:cNvPr id="21" name="Text 16"/>
            <p:cNvSpPr/>
            <p:nvPr/>
          </p:nvSpPr>
          <p:spPr>
            <a:xfrm>
              <a:off x="7480300" y="3469615"/>
              <a:ext cx="1625600"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B4656"/>
                  </a:solidFill>
                  <a:latin typeface="Arial" pitchFamily="34" charset="0"/>
                  <a:ea typeface="Arial" pitchFamily="34" charset="-122"/>
                  <a:cs typeface="Arial" pitchFamily="34" charset="-120"/>
                </a:rPr>
                <a:t>same output every run</a:t>
              </a:r>
              <a:endParaRPr lang="en-US" sz="1300" dirty="0"/>
            </a:p>
          </p:txBody>
        </p:sp>
      </p:grpSp>
      <p:pic>
        <p:nvPicPr>
          <p:cNvPr id="22" name="Image 3" descr="arrow-right"/>
          <p:cNvPicPr>
            <a:picLocks noChangeAspect="1"/>
          </p:cNvPicPr>
          <p:nvPr/>
        </p:nvPicPr>
        <p:blipFill>
          <a:blip r:embed="rId3"/>
          <a:srcRect/>
          <a:stretch/>
        </p:blipFill>
        <p:spPr>
          <a:xfrm>
            <a:off x="9207500" y="3244850"/>
            <a:ext cx="292100" cy="254000"/>
          </a:xfrm>
          <a:prstGeom prst="rect">
            <a:avLst/>
          </a:prstGeom>
        </p:spPr>
      </p:pic>
      <p:grpSp>
        <p:nvGrpSpPr>
          <p:cNvPr id="34" name="Group 33">
            <a:extLst>
              <a:ext uri="{FF2B5EF4-FFF2-40B4-BE49-F238E27FC236}">
                <a16:creationId xmlns:a16="http://schemas.microsoft.com/office/drawing/2014/main" id="{E935EF90-7D3F-DFF3-E15F-3E3091304E7D}"/>
              </a:ext>
            </a:extLst>
          </p:cNvPr>
          <p:cNvGrpSpPr/>
          <p:nvPr/>
        </p:nvGrpSpPr>
        <p:grpSpPr>
          <a:xfrm>
            <a:off x="9505950" y="1682750"/>
            <a:ext cx="1866900" cy="3378200"/>
            <a:chOff x="9505950" y="1682750"/>
            <a:chExt cx="1866900" cy="3378200"/>
          </a:xfrm>
        </p:grpSpPr>
        <p:sp>
          <p:nvSpPr>
            <p:cNvPr id="23" name="Shape 17"/>
            <p:cNvSpPr/>
            <p:nvPr/>
          </p:nvSpPr>
          <p:spPr>
            <a:xfrm>
              <a:off x="9505950" y="1682750"/>
              <a:ext cx="1866900" cy="3378200"/>
            </a:xfrm>
            <a:prstGeom prst="roundRect">
              <a:avLst>
                <a:gd name="adj" fmla="val 5102"/>
              </a:avLst>
            </a:prstGeom>
            <a:solidFill>
              <a:srgbClr val="FDFCF9"/>
            </a:solidFill>
            <a:ln w="12700">
              <a:solidFill>
                <a:srgbClr val="C9C6BA"/>
              </a:solidFill>
              <a:prstDash val="solid"/>
            </a:ln>
          </p:spPr>
          <p:txBody>
            <a:bodyPr/>
            <a:lstStyle/>
            <a:p>
              <a:endParaRPr lang="en-US"/>
            </a:p>
          </p:txBody>
        </p:sp>
        <p:sp>
          <p:nvSpPr>
            <p:cNvPr id="24" name="Text 18"/>
            <p:cNvSpPr/>
            <p:nvPr/>
          </p:nvSpPr>
          <p:spPr>
            <a:xfrm>
              <a:off x="9639300" y="2844868"/>
              <a:ext cx="165100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3B4656"/>
                  </a:solidFill>
                  <a:latin typeface="Courier New" pitchFamily="49" charset="0"/>
                  <a:ea typeface="Courier New" pitchFamily="49" charset="-122"/>
                  <a:cs typeface="Courier New" pitchFamily="49" charset="-120"/>
                </a:rPr>
                <a:t>OUTPUT</a:t>
              </a:r>
              <a:endParaRPr lang="en-US" sz="1200" dirty="0"/>
            </a:p>
          </p:txBody>
        </p:sp>
        <p:sp>
          <p:nvSpPr>
            <p:cNvPr id="25" name="Text 19"/>
            <p:cNvSpPr/>
            <p:nvPr/>
          </p:nvSpPr>
          <p:spPr>
            <a:xfrm>
              <a:off x="9639300" y="3134389"/>
              <a:ext cx="165100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1A2B"/>
                  </a:solidFill>
                  <a:latin typeface="Arial" pitchFamily="34" charset="0"/>
                  <a:ea typeface="Arial" pitchFamily="34" charset="-122"/>
                  <a:cs typeface="Arial" pitchFamily="34" charset="-120"/>
                </a:rPr>
                <a:t>Terraform</a:t>
              </a:r>
              <a:endParaRPr lang="en-US" sz="1700" dirty="0"/>
            </a:p>
          </p:txBody>
        </p:sp>
        <p:sp>
          <p:nvSpPr>
            <p:cNvPr id="26" name="Text 20"/>
            <p:cNvSpPr/>
            <p:nvPr/>
          </p:nvSpPr>
          <p:spPr>
            <a:xfrm>
              <a:off x="9639300" y="3469615"/>
              <a:ext cx="1651000"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B4656"/>
                  </a:solidFill>
                  <a:latin typeface="Arial" pitchFamily="34" charset="0"/>
                  <a:ea typeface="Arial" pitchFamily="34" charset="-122"/>
                  <a:cs typeface="Arial" pitchFamily="34" charset="-120"/>
                </a:rPr>
                <a:t>plain azurerm, ready to plan</a:t>
              </a:r>
              <a:endParaRPr lang="en-US" sz="1300" dirty="0"/>
            </a:p>
          </p:txBody>
        </p:sp>
      </p:grpSp>
      <p:sp>
        <p:nvSpPr>
          <p:cNvPr id="27" name="Text 21"/>
          <p:cNvSpPr/>
          <p:nvPr/>
        </p:nvSpPr>
        <p:spPr>
          <a:xfrm>
            <a:off x="812800" y="5372100"/>
            <a:ext cx="2345664" cy="469900"/>
          </a:xfrm>
          <a:prstGeom prst="roundRect">
            <a:avLst>
              <a:gd name="adj" fmla="val 16216"/>
            </a:avLst>
          </a:prstGeom>
          <a:solidFill>
            <a:srgbClr val="2A64C9"/>
          </a:solidFill>
          <a:ln/>
        </p:spPr>
        <p:txBody>
          <a:bodyPr wrap="none" lIns="0" tIns="0" rIns="0" bIns="0" rtlCol="0" anchor="ctr">
            <a:normAutofit/>
          </a:bodyPr>
          <a:lstStyle/>
          <a:p>
            <a:pPr marL="0" indent="0" algn="ctr">
              <a:lnSpc>
                <a:spcPts val="2100"/>
              </a:lnSpc>
              <a:buNone/>
            </a:pPr>
            <a:r>
              <a:rPr lang="en-US" sz="1500" b="1" dirty="0">
                <a:solidFill>
                  <a:srgbClr val="F7F6F1"/>
                </a:solidFill>
                <a:latin typeface="Arial" pitchFamily="34" charset="0"/>
                <a:ea typeface="Arial" pitchFamily="34" charset="-122"/>
                <a:cs typeface="Arial" pitchFamily="34" charset="-120"/>
              </a:rPr>
              <a:t>AI handles fuzzy work</a:t>
            </a:r>
            <a:endParaRPr lang="en-US" sz="1500" dirty="0"/>
          </a:p>
        </p:txBody>
      </p:sp>
      <p:sp>
        <p:nvSpPr>
          <p:cNvPr id="28" name="Text 22"/>
          <p:cNvSpPr/>
          <p:nvPr/>
        </p:nvSpPr>
        <p:spPr>
          <a:xfrm>
            <a:off x="3285464" y="5372100"/>
            <a:ext cx="3404460" cy="469900"/>
          </a:xfrm>
          <a:prstGeom prst="roundRect">
            <a:avLst>
              <a:gd name="adj" fmla="val 16216"/>
            </a:avLst>
          </a:prstGeom>
          <a:solidFill>
            <a:srgbClr val="B4690E"/>
          </a:solidFill>
          <a:ln/>
        </p:spPr>
        <p:txBody>
          <a:bodyPr wrap="none" lIns="0" tIns="0" rIns="0" bIns="0" rtlCol="0" anchor="ctr">
            <a:normAutofit/>
          </a:bodyPr>
          <a:lstStyle/>
          <a:p>
            <a:pPr marL="0" indent="0" algn="ctr">
              <a:lnSpc>
                <a:spcPts val="2100"/>
              </a:lnSpc>
              <a:buNone/>
            </a:pPr>
            <a:r>
              <a:rPr lang="en-US" sz="1500" b="1" dirty="0">
                <a:solidFill>
                  <a:srgbClr val="F7F6F1"/>
                </a:solidFill>
                <a:latin typeface="Arial" pitchFamily="34" charset="0"/>
                <a:ea typeface="Arial" pitchFamily="34" charset="-122"/>
                <a:cs typeface="Arial" pitchFamily="34" charset="-120"/>
              </a:rPr>
              <a:t>Scripts handle deterministic work</a:t>
            </a:r>
            <a:endParaRPr lang="en-US" sz="1500" dirty="0"/>
          </a:p>
        </p:txBody>
      </p:sp>
      <p:sp>
        <p:nvSpPr>
          <p:cNvPr id="29" name="Text 23"/>
          <p:cNvSpPr/>
          <p:nvPr/>
        </p:nvSpPr>
        <p:spPr>
          <a:xfrm>
            <a:off x="6816923" y="5372100"/>
            <a:ext cx="2853598" cy="469900"/>
          </a:xfrm>
          <a:prstGeom prst="roundRect">
            <a:avLst>
              <a:gd name="adj" fmla="val 16216"/>
            </a:avLst>
          </a:prstGeom>
          <a:solidFill>
            <a:srgbClr val="0E1A2B"/>
          </a:solidFill>
          <a:ln/>
        </p:spPr>
        <p:txBody>
          <a:bodyPr wrap="none" lIns="0" tIns="0" rIns="0" bIns="0" rtlCol="0" anchor="ctr">
            <a:normAutofit/>
          </a:bodyPr>
          <a:lstStyle/>
          <a:p>
            <a:pPr marL="0" indent="0" algn="ctr">
              <a:lnSpc>
                <a:spcPts val="2100"/>
              </a:lnSpc>
              <a:buNone/>
            </a:pPr>
            <a:r>
              <a:rPr lang="en-US" sz="1500" b="1" dirty="0">
                <a:solidFill>
                  <a:srgbClr val="F7F6F1"/>
                </a:solidFill>
                <a:latin typeface="Arial" pitchFamily="34" charset="0"/>
                <a:ea typeface="Arial" pitchFamily="34" charset="-122"/>
                <a:cs typeface="Arial" pitchFamily="34" charset="-120"/>
              </a:rPr>
              <a:t>Engineers handle judgment</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10" presetClass="entr" presetSubtype="0" fill="hold" nodeType="withEffect">
                                  <p:stCondLst>
                                    <p:cond delay="25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par>
                                <p:cTn id="21" presetID="10" presetClass="entr" presetSubtype="0" fill="hold" nodeType="withEffect">
                                  <p:stCondLst>
                                    <p:cond delay="25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par>
                                <p:cTn id="29" presetID="10" presetClass="entr" presetSubtype="0" fill="hold" nodeType="withEffect">
                                  <p:stCondLst>
                                    <p:cond delay="25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par>
                                <p:cTn id="37" presetID="10" presetClass="entr" presetSubtype="0" fill="hold" nodeType="withEffect">
                                  <p:stCondLst>
                                    <p:cond delay="25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0E1A2B"/>
                </a:solidFill>
                <a:latin typeface="Arial" pitchFamily="34" charset="0"/>
                <a:ea typeface="Arial" pitchFamily="34" charset="-122"/>
                <a:cs typeface="Arial" pitchFamily="34" charset="-120"/>
              </a:rPr>
              <a:t>Today’s plan</a:t>
            </a:r>
            <a:endParaRPr lang="en-US" sz="4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8300"/>
          <a:ext cx="10553700" cy="3954069"/>
        </p:xfrm>
        <a:graphic>
          <a:graphicData uri="http://schemas.openxmlformats.org/drawingml/2006/table">
            <a:tbl>
              <a:tblPr/>
              <a:tblGrid>
                <a:gridCol w="1899666">
                  <a:extLst>
                    <a:ext uri="{9D8B030D-6E8A-4147-A177-3AD203B41FA5}">
                      <a16:colId xmlns:a16="http://schemas.microsoft.com/office/drawing/2014/main" val="20000"/>
                    </a:ext>
                  </a:extLst>
                </a:gridCol>
                <a:gridCol w="6754368">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0E1A2B"/>
                          </a:solidFill>
                          <a:latin typeface="Arial" pitchFamily="34" charset="0"/>
                          <a:ea typeface="Arial" pitchFamily="34" charset="-122"/>
                          <a:cs typeface="Arial" pitchFamily="34" charset="-120"/>
                        </a:rPr>
                        <a:t>Start</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2240"/>
                        </a:lnSpc>
                        <a:buNone/>
                      </a:pPr>
                      <a:r>
                        <a:rPr lang="en-US" sz="1600" b="1" dirty="0">
                          <a:solidFill>
                            <a:srgbClr val="0E1A2B"/>
                          </a:solidFill>
                          <a:latin typeface="Arial" pitchFamily="34" charset="0"/>
                          <a:ea typeface="Arial" pitchFamily="34" charset="-122"/>
                          <a:cs typeface="Arial" pitchFamily="34" charset="-120"/>
                        </a:rPr>
                        <a:t>Block</a:t>
                      </a:r>
                      <a:endParaRPr lang="en-US" sz="1600" dirty="0">
                        <a:latin typeface="Arial" charset="0"/>
                        <a:ea typeface="Arial" charset="0"/>
                        <a:cs typeface="Arial" charset="0"/>
                      </a:endParaRPr>
                    </a:p>
                  </a:txBody>
                  <a:tcPr marL="71120" marR="71120" marT="71120" marB="7112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2240"/>
                        </a:lnSpc>
                        <a:buNone/>
                      </a:pPr>
                      <a:r>
                        <a:rPr lang="en-US" sz="1600" b="1" dirty="0">
                          <a:solidFill>
                            <a:srgbClr val="0E1A2B"/>
                          </a:solidFill>
                          <a:latin typeface="Arial" pitchFamily="34" charset="0"/>
                          <a:ea typeface="Arial" pitchFamily="34" charset="-122"/>
                          <a:cs typeface="Arial" pitchFamily="34" charset="-120"/>
                        </a:rPr>
                        <a:t>Ends</a:t>
                      </a:r>
                      <a:endParaRPr lang="en-US" sz="1600" dirty="0">
                        <a:latin typeface="Arial" charset="0"/>
                        <a:ea typeface="Arial" charset="0"/>
                        <a:cs typeface="Arial" charset="0"/>
                      </a:endParaRPr>
                    </a:p>
                  </a:txBody>
                  <a:tcPr marL="71120" marR="71120" marT="71120" marB="7112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10:00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Opening and setup check</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10:10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10:10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Lab 1: Break determinism</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10:25</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10:25</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Lab 2: Architecture to YAML, and inspect it</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10:50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10:50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Lab 3: Deterministic generation</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11:10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11:10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Break</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11:15</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11:15</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Lab 4: Extend the generator</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11:35</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6"/>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11:35</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Lab 5: Watch a change flow through</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11:50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7"/>
                  </a:ext>
                </a:extLst>
              </a:tr>
              <a:tr h="439341">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11:50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Wrap-up</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2240"/>
                        </a:lnSpc>
                        <a:buNone/>
                      </a:pPr>
                      <a:r>
                        <a:rPr lang="en-US" sz="1600" dirty="0">
                          <a:solidFill>
                            <a:srgbClr val="0E1A2B"/>
                          </a:solidFill>
                          <a:latin typeface="Arial" pitchFamily="34" charset="0"/>
                          <a:ea typeface="Arial" pitchFamily="34" charset="-122"/>
                          <a:cs typeface="Arial" pitchFamily="34" charset="-120"/>
                        </a:rPr>
                        <a:t>12:00</a:t>
                      </a:r>
                      <a:endParaRPr lang="en-US" sz="1600" dirty="0">
                        <a:latin typeface="Arial" charset="0"/>
                        <a:ea typeface="Arial" charset="0"/>
                        <a:cs typeface="Arial"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 1"/>
          <p:cNvSpPr/>
          <p:nvPr/>
        </p:nvSpPr>
        <p:spPr>
          <a:xfrm>
            <a:off x="812800" y="620269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656"/>
                </a:solidFill>
                <a:latin typeface="Arial" pitchFamily="34" charset="0"/>
                <a:ea typeface="Arial" pitchFamily="34" charset="-122"/>
                <a:cs typeface="Arial" pitchFamily="34" charset="-120"/>
              </a:rPr>
              <a:t>Each lab ends with a short debrief. Using a fallback file is normal.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7DB0FF"/>
                </a:solidFill>
                <a:latin typeface="Courier New" pitchFamily="49" charset="0"/>
                <a:ea typeface="Courier New" pitchFamily="49" charset="-122"/>
                <a:cs typeface="Courier New" pitchFamily="49" charset="-120"/>
              </a:rPr>
              <a:t>SETUP CHECK · 10:05 TO 10:10</a:t>
            </a:r>
            <a:endParaRPr lang="en-US" sz="1400" dirty="0"/>
          </a:p>
        </p:txBody>
      </p:sp>
      <p:sp>
        <p:nvSpPr>
          <p:cNvPr id="3" name="Text 1"/>
          <p:cNvSpPr>
            <a:spLocks noGrp="1"/>
          </p:cNvSpPr>
          <p:nvPr>
            <p:ph type="title"/>
          </p:nvPr>
        </p:nvSpPr>
        <p:spPr>
          <a:xfrm>
            <a:off x="812800" y="1315709"/>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7F6F1"/>
                </a:solidFill>
                <a:latin typeface="Arial" pitchFamily="34" charset="0"/>
                <a:ea typeface="Arial" pitchFamily="34" charset="-122"/>
                <a:cs typeface="Arial" pitchFamily="34" charset="-120"/>
              </a:rPr>
              <a:t>Run the preflight script</a:t>
            </a:r>
            <a:endParaRPr lang="en-US" sz="4000" dirty="0"/>
          </a:p>
        </p:txBody>
      </p:sp>
      <p:sp>
        <p:nvSpPr>
          <p:cNvPr id="4" name="Shape 2"/>
          <p:cNvSpPr/>
          <p:nvPr/>
        </p:nvSpPr>
        <p:spPr>
          <a:xfrm>
            <a:off x="812800" y="2128509"/>
            <a:ext cx="2527300" cy="1803334"/>
          </a:xfrm>
          <a:prstGeom prst="roundRect">
            <a:avLst>
              <a:gd name="adj" fmla="val 5634"/>
            </a:avLst>
          </a:prstGeom>
          <a:solidFill>
            <a:srgbClr val="16263D"/>
          </a:solidFill>
          <a:ln/>
        </p:spPr>
        <p:txBody>
          <a:bodyPr/>
          <a:lstStyle/>
          <a:p>
            <a:endParaRPr lang="en-US"/>
          </a:p>
        </p:txBody>
      </p:sp>
      <p:pic>
        <p:nvPicPr>
          <p:cNvPr id="5" name="Image 0" descr="Check"/>
          <p:cNvPicPr>
            <a:picLocks noChangeAspect="1"/>
          </p:cNvPicPr>
          <p:nvPr/>
        </p:nvPicPr>
        <p:blipFill>
          <a:blip r:embed="rId3"/>
          <a:srcRect/>
          <a:stretch/>
        </p:blipFill>
        <p:spPr>
          <a:xfrm>
            <a:off x="990600" y="2306309"/>
            <a:ext cx="279400" cy="279400"/>
          </a:xfrm>
          <a:prstGeom prst="rect">
            <a:avLst/>
          </a:prstGeom>
        </p:spPr>
      </p:pic>
      <p:sp>
        <p:nvSpPr>
          <p:cNvPr id="6" name="Text 3"/>
          <p:cNvSpPr/>
          <p:nvPr/>
        </p:nvSpPr>
        <p:spPr>
          <a:xfrm>
            <a:off x="990600" y="2674609"/>
            <a:ext cx="22368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Arial" pitchFamily="34" charset="0"/>
                <a:ea typeface="Arial" pitchFamily="34" charset="-122"/>
                <a:cs typeface="Arial" pitchFamily="34" charset="-120"/>
              </a:rPr>
              <a:t>Tools</a:t>
            </a:r>
            <a:endParaRPr lang="en-US" sz="1600" dirty="0"/>
          </a:p>
        </p:txBody>
      </p:sp>
      <p:sp>
        <p:nvSpPr>
          <p:cNvPr id="7" name="Text 4"/>
          <p:cNvSpPr/>
          <p:nvPr/>
        </p:nvSpPr>
        <p:spPr>
          <a:xfrm>
            <a:off x="990600" y="3007320"/>
            <a:ext cx="2236851"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CFDC"/>
                </a:solidFill>
                <a:latin typeface="Arial" pitchFamily="34" charset="0"/>
                <a:ea typeface="Arial" pitchFamily="34" charset="-122"/>
                <a:cs typeface="Arial" pitchFamily="34" charset="-120"/>
              </a:rPr>
              <a:t>PowerShell 7, Git, Terraform, TFLint, powershell-yaml</a:t>
            </a:r>
            <a:endParaRPr lang="en-US" sz="1400" dirty="0"/>
          </a:p>
        </p:txBody>
      </p:sp>
      <p:sp>
        <p:nvSpPr>
          <p:cNvPr id="8" name="Shape 5"/>
          <p:cNvSpPr/>
          <p:nvPr/>
        </p:nvSpPr>
        <p:spPr>
          <a:xfrm>
            <a:off x="3492500" y="2128509"/>
            <a:ext cx="2527300" cy="1803334"/>
          </a:xfrm>
          <a:prstGeom prst="roundRect">
            <a:avLst>
              <a:gd name="adj" fmla="val 5634"/>
            </a:avLst>
          </a:prstGeom>
          <a:solidFill>
            <a:srgbClr val="16263D"/>
          </a:solidFill>
          <a:ln/>
        </p:spPr>
        <p:txBody>
          <a:bodyPr/>
          <a:lstStyle/>
          <a:p>
            <a:endParaRPr lang="en-US"/>
          </a:p>
        </p:txBody>
      </p:sp>
      <p:pic>
        <p:nvPicPr>
          <p:cNvPr id="9" name="Image 1" descr="Check"/>
          <p:cNvPicPr>
            <a:picLocks noChangeAspect="1"/>
          </p:cNvPicPr>
          <p:nvPr/>
        </p:nvPicPr>
        <p:blipFill>
          <a:blip r:embed="rId3"/>
          <a:srcRect/>
          <a:stretch/>
        </p:blipFill>
        <p:spPr>
          <a:xfrm>
            <a:off x="3670300" y="2306309"/>
            <a:ext cx="279400" cy="279400"/>
          </a:xfrm>
          <a:prstGeom prst="rect">
            <a:avLst/>
          </a:prstGeom>
        </p:spPr>
      </p:pic>
      <p:sp>
        <p:nvSpPr>
          <p:cNvPr id="10" name="Text 6"/>
          <p:cNvSpPr/>
          <p:nvPr/>
        </p:nvSpPr>
        <p:spPr>
          <a:xfrm>
            <a:off x="3670300" y="2674609"/>
            <a:ext cx="22368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Arial" pitchFamily="34" charset="0"/>
                <a:ea typeface="Arial" pitchFamily="34" charset="-122"/>
                <a:cs typeface="Arial" pitchFamily="34" charset="-120"/>
              </a:rPr>
              <a:t>Repo and kit</a:t>
            </a:r>
            <a:endParaRPr lang="en-US" sz="1600" dirty="0"/>
          </a:p>
        </p:txBody>
      </p:sp>
      <p:sp>
        <p:nvSpPr>
          <p:cNvPr id="11" name="Text 7"/>
          <p:cNvSpPr/>
          <p:nvPr/>
        </p:nvSpPr>
        <p:spPr>
          <a:xfrm>
            <a:off x="3670300" y="3007320"/>
            <a:ext cx="2236851"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CFDC"/>
                </a:solidFill>
                <a:latin typeface="Arial" pitchFamily="34" charset="0"/>
                <a:ea typeface="Arial" pitchFamily="34" charset="-122"/>
                <a:cs typeface="Arial" pitchFamily="34" charset="-120"/>
              </a:rPr>
              <a:t>Repo cloned, workshop kit extracted to C:\Workshop\workshop-kit</a:t>
            </a:r>
            <a:endParaRPr lang="en-US" sz="1400" dirty="0"/>
          </a:p>
        </p:txBody>
      </p:sp>
      <p:sp>
        <p:nvSpPr>
          <p:cNvPr id="12" name="Shape 8"/>
          <p:cNvSpPr/>
          <p:nvPr/>
        </p:nvSpPr>
        <p:spPr>
          <a:xfrm>
            <a:off x="812800" y="4160443"/>
            <a:ext cx="2527300" cy="1803334"/>
          </a:xfrm>
          <a:prstGeom prst="roundRect">
            <a:avLst>
              <a:gd name="adj" fmla="val 5634"/>
            </a:avLst>
          </a:prstGeom>
          <a:solidFill>
            <a:srgbClr val="16263D"/>
          </a:solidFill>
          <a:ln/>
        </p:spPr>
        <p:txBody>
          <a:bodyPr/>
          <a:lstStyle/>
          <a:p>
            <a:endParaRPr lang="en-US"/>
          </a:p>
        </p:txBody>
      </p:sp>
      <p:pic>
        <p:nvPicPr>
          <p:cNvPr id="13" name="Image 2" descr="Check"/>
          <p:cNvPicPr>
            <a:picLocks noChangeAspect="1"/>
          </p:cNvPicPr>
          <p:nvPr/>
        </p:nvPicPr>
        <p:blipFill>
          <a:blip r:embed="rId3"/>
          <a:srcRect/>
          <a:stretch/>
        </p:blipFill>
        <p:spPr>
          <a:xfrm>
            <a:off x="990600" y="4338243"/>
            <a:ext cx="279400" cy="279400"/>
          </a:xfrm>
          <a:prstGeom prst="rect">
            <a:avLst/>
          </a:prstGeom>
        </p:spPr>
      </p:pic>
      <p:sp>
        <p:nvSpPr>
          <p:cNvPr id="14" name="Text 9"/>
          <p:cNvSpPr/>
          <p:nvPr/>
        </p:nvSpPr>
        <p:spPr>
          <a:xfrm>
            <a:off x="990600" y="4706543"/>
            <a:ext cx="22368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Arial" pitchFamily="34" charset="0"/>
                <a:ea typeface="Arial" pitchFamily="34" charset="-122"/>
                <a:cs typeface="Arial" pitchFamily="34" charset="-120"/>
              </a:rPr>
              <a:t>AI assistant</a:t>
            </a:r>
            <a:endParaRPr lang="en-US" sz="1600" dirty="0"/>
          </a:p>
        </p:txBody>
      </p:sp>
      <p:sp>
        <p:nvSpPr>
          <p:cNvPr id="15" name="Text 10"/>
          <p:cNvSpPr/>
          <p:nvPr/>
        </p:nvSpPr>
        <p:spPr>
          <a:xfrm>
            <a:off x="990600" y="5039254"/>
            <a:ext cx="2236851"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CFDC"/>
                </a:solidFill>
                <a:latin typeface="Arial" pitchFamily="34" charset="0"/>
                <a:ea typeface="Arial" pitchFamily="34" charset="-122"/>
                <a:cs typeface="Arial" pitchFamily="34" charset="-120"/>
              </a:rPr>
              <a:t>Agent mode with a Claude model, or use the fallback files</a:t>
            </a:r>
            <a:endParaRPr lang="en-US" sz="1400" dirty="0"/>
          </a:p>
        </p:txBody>
      </p:sp>
      <p:sp>
        <p:nvSpPr>
          <p:cNvPr id="16" name="Shape 11"/>
          <p:cNvSpPr/>
          <p:nvPr/>
        </p:nvSpPr>
        <p:spPr>
          <a:xfrm>
            <a:off x="3492500" y="4160443"/>
            <a:ext cx="2527300" cy="1803334"/>
          </a:xfrm>
          <a:prstGeom prst="roundRect">
            <a:avLst>
              <a:gd name="adj" fmla="val 5634"/>
            </a:avLst>
          </a:prstGeom>
          <a:solidFill>
            <a:srgbClr val="16263D"/>
          </a:solidFill>
          <a:ln/>
        </p:spPr>
        <p:txBody>
          <a:bodyPr/>
          <a:lstStyle/>
          <a:p>
            <a:endParaRPr lang="en-US"/>
          </a:p>
        </p:txBody>
      </p:sp>
      <p:pic>
        <p:nvPicPr>
          <p:cNvPr id="17" name="Image 3" descr="Check"/>
          <p:cNvPicPr>
            <a:picLocks noChangeAspect="1"/>
          </p:cNvPicPr>
          <p:nvPr/>
        </p:nvPicPr>
        <p:blipFill>
          <a:blip r:embed="rId3"/>
          <a:srcRect/>
          <a:stretch/>
        </p:blipFill>
        <p:spPr>
          <a:xfrm>
            <a:off x="3670300" y="4338243"/>
            <a:ext cx="279400" cy="279400"/>
          </a:xfrm>
          <a:prstGeom prst="rect">
            <a:avLst/>
          </a:prstGeom>
        </p:spPr>
      </p:pic>
      <p:sp>
        <p:nvSpPr>
          <p:cNvPr id="18" name="Text 12"/>
          <p:cNvSpPr/>
          <p:nvPr/>
        </p:nvSpPr>
        <p:spPr>
          <a:xfrm>
            <a:off x="3670300" y="4706543"/>
            <a:ext cx="22368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Arial" pitchFamily="34" charset="0"/>
                <a:ea typeface="Arial" pitchFamily="34" charset="-122"/>
                <a:cs typeface="Arial" pitchFamily="34" charset="-120"/>
              </a:rPr>
              <a:t>Azure, optional</a:t>
            </a:r>
            <a:endParaRPr lang="en-US" sz="1600" dirty="0"/>
          </a:p>
        </p:txBody>
      </p:sp>
      <p:sp>
        <p:nvSpPr>
          <p:cNvPr id="19" name="Text 13"/>
          <p:cNvSpPr/>
          <p:nvPr/>
        </p:nvSpPr>
        <p:spPr>
          <a:xfrm>
            <a:off x="3670300" y="5039254"/>
            <a:ext cx="2236851"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CFDC"/>
                </a:solidFill>
                <a:latin typeface="Arial" pitchFamily="34" charset="0"/>
                <a:ea typeface="Arial" pitchFamily="34" charset="-122"/>
                <a:cs typeface="Arial" pitchFamily="34" charset="-120"/>
              </a:rPr>
              <a:t>Signed in with a subscription, or stop after tflint</a:t>
            </a:r>
            <a:endParaRPr lang="en-US" sz="1400" dirty="0"/>
          </a:p>
        </p:txBody>
      </p:sp>
      <p:sp>
        <p:nvSpPr>
          <p:cNvPr id="21" name="Text 15"/>
          <p:cNvSpPr/>
          <p:nvPr/>
        </p:nvSpPr>
        <p:spPr>
          <a:xfrm>
            <a:off x="812800" y="620269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A0B8"/>
                </a:solidFill>
                <a:latin typeface="Arial" pitchFamily="34" charset="0"/>
                <a:ea typeface="Arial" pitchFamily="34" charset="-122"/>
                <a:cs typeface="Arial" pitchFamily="34" charset="-120"/>
              </a:rPr>
              <a:t>Every line should say OK. Missing something? Pair with a neighbor.</a:t>
            </a:r>
            <a:endParaRPr lang="en-US" sz="1400" dirty="0"/>
          </a:p>
        </p:txBody>
      </p:sp>
      <p:pic>
        <p:nvPicPr>
          <p:cNvPr id="25" name="Picture 24" descr="The image is a close-up of a QR code, which is a matrix of black and white squares forming a pattern that can be scanned by a QR reader.&#10;&#10;AI-generated content may be incorrect.">
            <a:extLst>
              <a:ext uri="{FF2B5EF4-FFF2-40B4-BE49-F238E27FC236}">
                <a16:creationId xmlns:a16="http://schemas.microsoft.com/office/drawing/2014/main" id="{0BDA7204-E1C6-E69C-8CEF-60206E7C35C4}"/>
              </a:ext>
            </a:extLst>
          </p:cNvPr>
          <p:cNvPicPr>
            <a:picLocks noChangeAspect="1"/>
          </p:cNvPicPr>
          <p:nvPr/>
        </p:nvPicPr>
        <p:blipFill>
          <a:blip r:embed="rId4"/>
          <a:stretch>
            <a:fillRect/>
          </a:stretch>
        </p:blipFill>
        <p:spPr>
          <a:xfrm>
            <a:off x="7021657" y="1919402"/>
            <a:ext cx="4286250" cy="42862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kern="0" spc="100" dirty="0">
                <a:solidFill>
                  <a:srgbClr val="7DB0FF"/>
                </a:solidFill>
                <a:latin typeface="Courier New" pitchFamily="49" charset="0"/>
                <a:ea typeface="Courier New" pitchFamily="49" charset="-122"/>
                <a:cs typeface="Courier New" pitchFamily="49" charset="-120"/>
              </a:rPr>
              <a:t>LAB 1</a:t>
            </a:r>
            <a:endParaRPr lang="en-US" sz="1600" dirty="0"/>
          </a:p>
        </p:txBody>
      </p:sp>
      <p:sp>
        <p:nvSpPr>
          <p:cNvPr id="3" name="Text 1"/>
          <p:cNvSpPr>
            <a:spLocks noGrp="1"/>
          </p:cNvSpPr>
          <p:nvPr>
            <p:ph type="title"/>
          </p:nvPr>
        </p:nvSpPr>
        <p:spPr>
          <a:xfrm>
            <a:off x="812800" y="1300429"/>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6F1"/>
                </a:solidFill>
                <a:latin typeface="Arial" pitchFamily="34" charset="0"/>
                <a:ea typeface="Arial" pitchFamily="34" charset="-122"/>
                <a:cs typeface="Arial" pitchFamily="34" charset="-120"/>
              </a:rPr>
              <a:t>Break determinism</a:t>
            </a:r>
            <a:endParaRPr lang="en-US" sz="4800" dirty="0"/>
          </a:p>
        </p:txBody>
      </p:sp>
      <p:sp>
        <p:nvSpPr>
          <p:cNvPr id="4" name="Text 2"/>
          <p:cNvSpPr/>
          <p:nvPr/>
        </p:nvSpPr>
        <p:spPr>
          <a:xfrm>
            <a:off x="812800" y="2174149"/>
            <a:ext cx="915670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4CFDC"/>
                </a:solidFill>
                <a:latin typeface="Arial" pitchFamily="34" charset="0"/>
                <a:ea typeface="Arial" pitchFamily="34" charset="-122"/>
                <a:cs typeface="Arial" pitchFamily="34" charset="-120"/>
              </a:rPr>
              <a:t>See for yourself why “ask AI for the Terraform” doesn’t work for governed infrastructure.</a:t>
            </a:r>
            <a:endParaRPr lang="en-US" sz="2000" dirty="0"/>
          </a:p>
        </p:txBody>
      </p:sp>
      <p:sp>
        <p:nvSpPr>
          <p:cNvPr id="5" name="Text 3"/>
          <p:cNvSpPr/>
          <p:nvPr/>
        </p:nvSpPr>
        <p:spPr>
          <a:xfrm>
            <a:off x="819150" y="3069499"/>
            <a:ext cx="3847571"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Run the same prompt twice in fresh chats</a:t>
            </a:r>
            <a:endParaRPr lang="en-US" sz="1500" dirty="0"/>
          </a:p>
        </p:txBody>
      </p:sp>
      <p:sp>
        <p:nvSpPr>
          <p:cNvPr id="6" name="Text 4"/>
          <p:cNvSpPr/>
          <p:nvPr/>
        </p:nvSpPr>
        <p:spPr>
          <a:xfrm>
            <a:off x="4806421" y="3069499"/>
            <a:ext cx="1970154"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Diff the two outputs</a:t>
            </a:r>
            <a:endParaRPr lang="en-US" sz="1500" dirty="0"/>
          </a:p>
        </p:txBody>
      </p:sp>
      <p:sp>
        <p:nvSpPr>
          <p:cNvPr id="7" name="Text 5"/>
          <p:cNvSpPr/>
          <p:nvPr/>
        </p:nvSpPr>
        <p:spPr>
          <a:xfrm>
            <a:off x="812800" y="5161297"/>
            <a:ext cx="3983302" cy="680707"/>
          </a:xfrm>
          <a:prstGeom prst="roundRect">
            <a:avLst>
              <a:gd name="adj" fmla="val 14926"/>
            </a:avLst>
          </a:prstGeom>
          <a:solidFill>
            <a:srgbClr val="F2B134"/>
          </a:solidFill>
          <a:ln/>
        </p:spPr>
        <p:txBody>
          <a:bodyPr wrap="none" lIns="0" tIns="0" rIns="0" bIns="0" rtlCol="0" anchor="ctr">
            <a:normAutofit/>
          </a:bodyPr>
          <a:lstStyle/>
          <a:p>
            <a:pPr marL="0" indent="0" algn="ctr">
              <a:lnSpc>
                <a:spcPts val="3360"/>
              </a:lnSpc>
              <a:buNone/>
            </a:pPr>
            <a:r>
              <a:rPr lang="en-US" sz="2400" b="1" dirty="0">
                <a:solidFill>
                  <a:srgbClr val="0E1A2B"/>
                </a:solidFill>
                <a:latin typeface="Courier New" pitchFamily="49" charset="0"/>
                <a:ea typeface="Courier New" pitchFamily="49" charset="-122"/>
                <a:cs typeface="Courier New" pitchFamily="49" charset="-120"/>
              </a:rPr>
              <a:t>Hands-on ends 10:22</a:t>
            </a:r>
            <a:endParaRPr lang="en-US" sz="2400" dirty="0"/>
          </a:p>
        </p:txBody>
      </p:sp>
      <p:sp>
        <p:nvSpPr>
          <p:cNvPr id="8" name="Text 6"/>
          <p:cNvSpPr/>
          <p:nvPr/>
        </p:nvSpPr>
        <p:spPr>
          <a:xfrm>
            <a:off x="4958027" y="5172937"/>
            <a:ext cx="3449373" cy="657423"/>
          </a:xfrm>
          <a:prstGeom prst="roundRect">
            <a:avLst>
              <a:gd name="adj" fmla="val 14005"/>
            </a:avLst>
          </a:prstGeom>
          <a:noFill/>
          <a:ln w="19050">
            <a:solidFill>
              <a:srgbClr val="F2B134"/>
            </a:solidFill>
            <a:prstDash val="solid"/>
          </a:ln>
        </p:spPr>
        <p:txBody>
          <a:bodyPr wrap="none" lIns="0" tIns="0" rIns="0" bIns="0" rtlCol="0" anchor="ctr">
            <a:normAutofit/>
          </a:bodyPr>
          <a:lstStyle/>
          <a:p>
            <a:pPr marL="0" indent="0" algn="ctr">
              <a:lnSpc>
                <a:spcPts val="3360"/>
              </a:lnSpc>
              <a:buNone/>
            </a:pPr>
            <a:r>
              <a:rPr lang="en-US" sz="2400" b="1" dirty="0">
                <a:solidFill>
                  <a:srgbClr val="F2B134"/>
                </a:solidFill>
                <a:latin typeface="Courier New" pitchFamily="49" charset="0"/>
                <a:ea typeface="Courier New" pitchFamily="49" charset="-122"/>
                <a:cs typeface="Courier New" pitchFamily="49" charset="-120"/>
              </a:rPr>
              <a:t>Block ends 10:25</a:t>
            </a:r>
            <a:endParaRPr lang="en-US" sz="2400" dirty="0"/>
          </a:p>
        </p:txBody>
      </p:sp>
      <p:sp>
        <p:nvSpPr>
          <p:cNvPr id="9" name="Text 7"/>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A0B8"/>
                </a:solidFill>
                <a:latin typeface="Arial" pitchFamily="34" charset="0"/>
                <a:ea typeface="Arial" pitchFamily="34" charset="-122"/>
                <a:cs typeface="Arial" pitchFamily="34" charset="-120"/>
              </a:rPr>
              <a:t>No AI? Use workshop-kit\lab1-fallback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DEBRIEF · 10:22 TO 10:25</a:t>
            </a:r>
            <a:endParaRPr lang="en-US" sz="1400" dirty="0"/>
          </a:p>
        </p:txBody>
      </p:sp>
      <p:sp>
        <p:nvSpPr>
          <p:cNvPr id="3" name="Text 1"/>
          <p:cNvSpPr>
            <a:spLocks noGrp="1"/>
          </p:cNvSpPr>
          <p:nvPr>
            <p:ph type="title"/>
          </p:nvPr>
        </p:nvSpPr>
        <p:spPr>
          <a:xfrm>
            <a:off x="812800" y="1264909"/>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Lab 1: What did you notice?</a:t>
            </a:r>
            <a:endParaRPr lang="en-US" sz="3600" dirty="0"/>
          </a:p>
        </p:txBody>
      </p:sp>
      <p:sp>
        <p:nvSpPr>
          <p:cNvPr id="4" name="Shape 2"/>
          <p:cNvSpPr/>
          <p:nvPr/>
        </p:nvSpPr>
        <p:spPr>
          <a:xfrm>
            <a:off x="815975" y="1974193"/>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5" name="Text 3"/>
          <p:cNvSpPr/>
          <p:nvPr/>
        </p:nvSpPr>
        <p:spPr>
          <a:xfrm>
            <a:off x="1020233" y="2114947"/>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1</a:t>
            </a:r>
            <a:endParaRPr lang="en-US" sz="2000" dirty="0"/>
          </a:p>
        </p:txBody>
      </p:sp>
      <p:sp>
        <p:nvSpPr>
          <p:cNvPr id="6" name="Text 4"/>
          <p:cNvSpPr/>
          <p:nvPr/>
        </p:nvSpPr>
        <p:spPr>
          <a:xfrm>
            <a:off x="1350500" y="2144185"/>
            <a:ext cx="4462939"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What differed between the two runs?</a:t>
            </a:r>
            <a:endParaRPr lang="en-US" sz="1800" dirty="0"/>
          </a:p>
        </p:txBody>
      </p:sp>
      <p:sp>
        <p:nvSpPr>
          <p:cNvPr id="7" name="Shape 5"/>
          <p:cNvSpPr/>
          <p:nvPr/>
        </p:nvSpPr>
        <p:spPr>
          <a:xfrm>
            <a:off x="815975" y="2719257"/>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8" name="Text 6"/>
          <p:cNvSpPr/>
          <p:nvPr/>
        </p:nvSpPr>
        <p:spPr>
          <a:xfrm>
            <a:off x="1020233" y="2860018"/>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2</a:t>
            </a:r>
            <a:endParaRPr lang="en-US" sz="2000" dirty="0"/>
          </a:p>
        </p:txBody>
      </p:sp>
      <p:sp>
        <p:nvSpPr>
          <p:cNvPr id="9" name="Text 7"/>
          <p:cNvSpPr/>
          <p:nvPr/>
        </p:nvSpPr>
        <p:spPr>
          <a:xfrm>
            <a:off x="1350500" y="2889250"/>
            <a:ext cx="2485628"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Is either one wrong?</a:t>
            </a:r>
            <a:endParaRPr lang="en-US" sz="1800" dirty="0"/>
          </a:p>
        </p:txBody>
      </p:sp>
      <p:sp>
        <p:nvSpPr>
          <p:cNvPr id="10" name="Shape 8"/>
          <p:cNvSpPr/>
          <p:nvPr/>
        </p:nvSpPr>
        <p:spPr>
          <a:xfrm>
            <a:off x="815975" y="3464322"/>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11" name="Text 9"/>
          <p:cNvSpPr/>
          <p:nvPr/>
        </p:nvSpPr>
        <p:spPr>
          <a:xfrm>
            <a:off x="1020233" y="3605082"/>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3</a:t>
            </a:r>
            <a:endParaRPr lang="en-US" sz="2000" dirty="0"/>
          </a:p>
        </p:txBody>
      </p:sp>
      <p:sp>
        <p:nvSpPr>
          <p:cNvPr id="12" name="Text 10"/>
          <p:cNvSpPr/>
          <p:nvPr/>
        </p:nvSpPr>
        <p:spPr>
          <a:xfrm>
            <a:off x="1350500" y="3634321"/>
            <a:ext cx="6831648"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What does this do to a pull request, an audit, a rollback?</a:t>
            </a:r>
            <a:endParaRPr lang="en-US" sz="1800" dirty="0"/>
          </a:p>
        </p:txBody>
      </p:sp>
      <p:sp>
        <p:nvSpPr>
          <p:cNvPr id="13" name="Text 11"/>
          <p:cNvSpPr/>
          <p:nvPr/>
        </p:nvSpPr>
        <p:spPr>
          <a:xfrm>
            <a:off x="812800" y="5137150"/>
            <a:ext cx="10566400" cy="704850"/>
          </a:xfrm>
          <a:prstGeom prst="roundRect">
            <a:avLst>
              <a:gd name="adj" fmla="val 14414"/>
            </a:avLst>
          </a:prstGeom>
          <a:solidFill>
            <a:srgbClr val="0E1A2B"/>
          </a:solidFill>
          <a:ln/>
        </p:spPr>
        <p:txBody>
          <a:bodyPr wrap="square" lIns="224242" tIns="148042" rIns="0" bIns="122642" rtlCol="0" anchor="t">
            <a:normAutofit/>
          </a:bodyPr>
          <a:lstStyle/>
          <a:p>
            <a:pPr marL="0" indent="0" algn="l">
              <a:lnSpc>
                <a:spcPts val="2750"/>
              </a:lnSpc>
              <a:buNone/>
            </a:pPr>
            <a:r>
              <a:rPr lang="en-US" sz="2200" b="1" dirty="0">
                <a:solidFill>
                  <a:srgbClr val="F7F6F1"/>
                </a:solidFill>
                <a:latin typeface="Arial" pitchFamily="34" charset="0"/>
                <a:ea typeface="Arial" pitchFamily="34" charset="-122"/>
                <a:cs typeface="Arial" pitchFamily="34" charset="-120"/>
              </a:rPr>
              <a:t>The output was fine. It was not reproducible.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kern="0" spc="100" dirty="0">
                <a:solidFill>
                  <a:srgbClr val="7DB0FF"/>
                </a:solidFill>
                <a:latin typeface="Courier New" pitchFamily="49" charset="0"/>
                <a:ea typeface="Courier New" pitchFamily="49" charset="-122"/>
                <a:cs typeface="Courier New" pitchFamily="49" charset="-120"/>
              </a:rPr>
              <a:t>LAB 2</a:t>
            </a:r>
            <a:endParaRPr lang="en-US" sz="1600" dirty="0"/>
          </a:p>
        </p:txBody>
      </p:sp>
      <p:sp>
        <p:nvSpPr>
          <p:cNvPr id="3" name="Text 1"/>
          <p:cNvSpPr>
            <a:spLocks noGrp="1"/>
          </p:cNvSpPr>
          <p:nvPr>
            <p:ph type="title"/>
          </p:nvPr>
        </p:nvSpPr>
        <p:spPr>
          <a:xfrm>
            <a:off x="812800" y="1300429"/>
            <a:ext cx="1137920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6F1"/>
                </a:solidFill>
                <a:latin typeface="Arial" pitchFamily="34" charset="0"/>
                <a:ea typeface="Arial" pitchFamily="34" charset="-122"/>
                <a:cs typeface="Arial" pitchFamily="34" charset="-120"/>
              </a:rPr>
              <a:t>Architecture to YAML, and inspect it</a:t>
            </a:r>
            <a:endParaRPr lang="en-US" sz="4800" dirty="0"/>
          </a:p>
        </p:txBody>
      </p:sp>
      <p:sp>
        <p:nvSpPr>
          <p:cNvPr id="4" name="Text 2"/>
          <p:cNvSpPr/>
          <p:nvPr/>
        </p:nvSpPr>
        <p:spPr>
          <a:xfrm>
            <a:off x="812800" y="2174149"/>
            <a:ext cx="9156700"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4CFDC"/>
                </a:solidFill>
                <a:latin typeface="Arial" pitchFamily="34" charset="0"/>
                <a:ea typeface="Arial" pitchFamily="34" charset="-122"/>
                <a:cs typeface="Arial" pitchFamily="34" charset="-120"/>
              </a:rPr>
              <a:t>Give the AI the job it is good at, then review its work like an engineer.</a:t>
            </a:r>
            <a:endParaRPr lang="en-US" sz="2000" dirty="0"/>
          </a:p>
        </p:txBody>
      </p:sp>
      <p:sp>
        <p:nvSpPr>
          <p:cNvPr id="5" name="Text 3"/>
          <p:cNvSpPr/>
          <p:nvPr/>
        </p:nvSpPr>
        <p:spPr>
          <a:xfrm>
            <a:off x="819150" y="2726599"/>
            <a:ext cx="3201525"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A: Run /create-infrastructure-spec</a:t>
            </a:r>
            <a:endParaRPr lang="en-US" sz="1500" dirty="0"/>
          </a:p>
        </p:txBody>
      </p:sp>
      <p:sp>
        <p:nvSpPr>
          <p:cNvPr id="6" name="Text 4"/>
          <p:cNvSpPr/>
          <p:nvPr/>
        </p:nvSpPr>
        <p:spPr>
          <a:xfrm>
            <a:off x="4160375" y="2726599"/>
            <a:ext cx="3653433"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B: Inspect your YAML with the checklist</a:t>
            </a:r>
            <a:endParaRPr lang="en-US" sz="1500" dirty="0"/>
          </a:p>
        </p:txBody>
      </p:sp>
      <p:sp>
        <p:nvSpPr>
          <p:cNvPr id="7" name="Text 5"/>
          <p:cNvSpPr/>
          <p:nvPr/>
        </p:nvSpPr>
        <p:spPr>
          <a:xfrm>
            <a:off x="7953508" y="2726599"/>
            <a:ext cx="2990189"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C: Calibrate on the flawed spec</a:t>
            </a:r>
            <a:endParaRPr lang="en-US" sz="1500" dirty="0"/>
          </a:p>
        </p:txBody>
      </p:sp>
      <p:sp>
        <p:nvSpPr>
          <p:cNvPr id="8" name="Text 6"/>
          <p:cNvSpPr/>
          <p:nvPr/>
        </p:nvSpPr>
        <p:spPr>
          <a:xfrm>
            <a:off x="812800" y="5161297"/>
            <a:ext cx="3983302" cy="680707"/>
          </a:xfrm>
          <a:prstGeom prst="roundRect">
            <a:avLst>
              <a:gd name="adj" fmla="val 14926"/>
            </a:avLst>
          </a:prstGeom>
          <a:solidFill>
            <a:srgbClr val="F2B134"/>
          </a:solidFill>
          <a:ln/>
        </p:spPr>
        <p:txBody>
          <a:bodyPr wrap="none" lIns="0" tIns="0" rIns="0" bIns="0" rtlCol="0" anchor="ctr">
            <a:normAutofit/>
          </a:bodyPr>
          <a:lstStyle/>
          <a:p>
            <a:pPr marL="0" indent="0" algn="ctr">
              <a:lnSpc>
                <a:spcPts val="3360"/>
              </a:lnSpc>
              <a:buNone/>
            </a:pPr>
            <a:r>
              <a:rPr lang="en-US" sz="2400" b="1" dirty="0">
                <a:solidFill>
                  <a:srgbClr val="0E1A2B"/>
                </a:solidFill>
                <a:latin typeface="Courier New" pitchFamily="49" charset="0"/>
                <a:ea typeface="Courier New" pitchFamily="49" charset="-122"/>
                <a:cs typeface="Courier New" pitchFamily="49" charset="-120"/>
              </a:rPr>
              <a:t>Hands-on ends 10:46</a:t>
            </a:r>
            <a:endParaRPr lang="en-US" sz="2400" dirty="0"/>
          </a:p>
        </p:txBody>
      </p:sp>
      <p:sp>
        <p:nvSpPr>
          <p:cNvPr id="9" name="Text 7"/>
          <p:cNvSpPr/>
          <p:nvPr/>
        </p:nvSpPr>
        <p:spPr>
          <a:xfrm>
            <a:off x="4958027" y="5172937"/>
            <a:ext cx="3449373" cy="657423"/>
          </a:xfrm>
          <a:prstGeom prst="roundRect">
            <a:avLst>
              <a:gd name="adj" fmla="val 14005"/>
            </a:avLst>
          </a:prstGeom>
          <a:noFill/>
          <a:ln w="19050">
            <a:solidFill>
              <a:srgbClr val="F2B134"/>
            </a:solidFill>
            <a:prstDash val="solid"/>
          </a:ln>
        </p:spPr>
        <p:txBody>
          <a:bodyPr wrap="none" lIns="0" tIns="0" rIns="0" bIns="0" rtlCol="0" anchor="ctr">
            <a:normAutofit/>
          </a:bodyPr>
          <a:lstStyle/>
          <a:p>
            <a:pPr marL="0" indent="0" algn="ctr">
              <a:lnSpc>
                <a:spcPts val="3360"/>
              </a:lnSpc>
              <a:buNone/>
            </a:pPr>
            <a:r>
              <a:rPr lang="en-US" sz="2400" b="1" dirty="0">
                <a:solidFill>
                  <a:srgbClr val="F2B134"/>
                </a:solidFill>
                <a:latin typeface="Courier New" pitchFamily="49" charset="0"/>
                <a:ea typeface="Courier New" pitchFamily="49" charset="-122"/>
                <a:cs typeface="Courier New" pitchFamily="49" charset="-120"/>
              </a:rPr>
              <a:t>Block ends 10:50</a:t>
            </a:r>
            <a:endParaRPr lang="en-US" sz="2400" dirty="0"/>
          </a:p>
        </p:txBody>
      </p:sp>
      <p:sp>
        <p:nvSpPr>
          <p:cNvPr id="10" name="Text 8"/>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A0B8"/>
                </a:solidFill>
                <a:latin typeface="Arial" pitchFamily="34" charset="0"/>
                <a:ea typeface="Arial" pitchFamily="34" charset="-122"/>
                <a:cs typeface="Arial" pitchFamily="34" charset="-120"/>
              </a:rPr>
              <a:t>No AI? Copy the reference spec. Checklist: workshop-lab2-yaml-inspection-exercise.md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DEBRIEF · 10:46 TO 10:50</a:t>
            </a:r>
            <a:endParaRPr lang="en-US" sz="1400" dirty="0"/>
          </a:p>
        </p:txBody>
      </p:sp>
      <p:sp>
        <p:nvSpPr>
          <p:cNvPr id="3" name="Text 1"/>
          <p:cNvSpPr>
            <a:spLocks noGrp="1"/>
          </p:cNvSpPr>
          <p:nvPr>
            <p:ph type="title"/>
          </p:nvPr>
        </p:nvSpPr>
        <p:spPr>
          <a:xfrm>
            <a:off x="812800" y="1264909"/>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Lab 2: What did you notice?</a:t>
            </a:r>
            <a:endParaRPr lang="en-US" sz="3600" dirty="0"/>
          </a:p>
        </p:txBody>
      </p:sp>
      <p:sp>
        <p:nvSpPr>
          <p:cNvPr id="4" name="Shape 2"/>
          <p:cNvSpPr/>
          <p:nvPr/>
        </p:nvSpPr>
        <p:spPr>
          <a:xfrm>
            <a:off x="815975" y="1974193"/>
            <a:ext cx="10560050" cy="550730"/>
          </a:xfrm>
          <a:prstGeom prst="roundRect">
            <a:avLst>
              <a:gd name="adj" fmla="val 17872"/>
            </a:avLst>
          </a:prstGeom>
          <a:solidFill>
            <a:srgbClr val="FDFCF9"/>
          </a:solidFill>
          <a:ln w="6350">
            <a:solidFill>
              <a:srgbClr val="DAD8CF"/>
            </a:solidFill>
            <a:prstDash val="solid"/>
          </a:ln>
        </p:spPr>
        <p:txBody>
          <a:bodyPr/>
          <a:lstStyle/>
          <a:p>
            <a:endParaRPr lang="en-US"/>
          </a:p>
        </p:txBody>
      </p:sp>
      <p:sp>
        <p:nvSpPr>
          <p:cNvPr id="5" name="Text 3"/>
          <p:cNvSpPr/>
          <p:nvPr/>
        </p:nvSpPr>
        <p:spPr>
          <a:xfrm>
            <a:off x="1020233" y="2089547"/>
            <a:ext cx="187986"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A64C9"/>
                </a:solidFill>
                <a:latin typeface="Courier New" pitchFamily="49" charset="0"/>
                <a:ea typeface="Courier New" pitchFamily="49" charset="-122"/>
                <a:cs typeface="Courier New" pitchFamily="49" charset="-120"/>
              </a:rPr>
              <a:t>1</a:t>
            </a:r>
            <a:endParaRPr lang="en-US" sz="1800" dirty="0"/>
          </a:p>
        </p:txBody>
      </p:sp>
      <p:sp>
        <p:nvSpPr>
          <p:cNvPr id="6" name="Text 4"/>
          <p:cNvSpPr/>
          <p:nvPr/>
        </p:nvSpPr>
        <p:spPr>
          <a:xfrm>
            <a:off x="1335220" y="2117465"/>
            <a:ext cx="9419908"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0E1A2B"/>
                </a:solidFill>
                <a:latin typeface="Arial" pitchFamily="34" charset="0"/>
                <a:ea typeface="Arial" pitchFamily="34" charset="-122"/>
                <a:cs typeface="Arial" pitchFamily="34" charset="-120"/>
              </a:rPr>
              <a:t>How many problems did machine-style checks cover, and how many needed a human?</a:t>
            </a:r>
            <a:endParaRPr lang="en-US" sz="1600" dirty="0"/>
          </a:p>
        </p:txBody>
      </p:sp>
      <p:sp>
        <p:nvSpPr>
          <p:cNvPr id="7" name="Shape 5"/>
          <p:cNvSpPr/>
          <p:nvPr/>
        </p:nvSpPr>
        <p:spPr>
          <a:xfrm>
            <a:off x="815975" y="2620169"/>
            <a:ext cx="10560050" cy="550730"/>
          </a:xfrm>
          <a:prstGeom prst="roundRect">
            <a:avLst>
              <a:gd name="adj" fmla="val 17872"/>
            </a:avLst>
          </a:prstGeom>
          <a:solidFill>
            <a:srgbClr val="FDFCF9"/>
          </a:solidFill>
          <a:ln w="6350">
            <a:solidFill>
              <a:srgbClr val="DAD8CF"/>
            </a:solidFill>
            <a:prstDash val="solid"/>
          </a:ln>
        </p:spPr>
        <p:txBody>
          <a:bodyPr/>
          <a:lstStyle/>
          <a:p>
            <a:endParaRPr lang="en-US"/>
          </a:p>
        </p:txBody>
      </p:sp>
      <p:sp>
        <p:nvSpPr>
          <p:cNvPr id="8" name="Text 6"/>
          <p:cNvSpPr/>
          <p:nvPr/>
        </p:nvSpPr>
        <p:spPr>
          <a:xfrm>
            <a:off x="1020233" y="2735529"/>
            <a:ext cx="187986"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A64C9"/>
                </a:solidFill>
                <a:latin typeface="Courier New" pitchFamily="49" charset="0"/>
                <a:ea typeface="Courier New" pitchFamily="49" charset="-122"/>
                <a:cs typeface="Courier New" pitchFamily="49" charset="-120"/>
              </a:rPr>
              <a:t>2</a:t>
            </a:r>
            <a:endParaRPr lang="en-US" sz="1800" dirty="0"/>
          </a:p>
        </p:txBody>
      </p:sp>
      <p:sp>
        <p:nvSpPr>
          <p:cNvPr id="9" name="Text 7"/>
          <p:cNvSpPr/>
          <p:nvPr/>
        </p:nvSpPr>
        <p:spPr>
          <a:xfrm>
            <a:off x="1335220" y="2763441"/>
            <a:ext cx="447222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0E1A2B"/>
                </a:solidFill>
                <a:latin typeface="Arial" pitchFamily="34" charset="0"/>
                <a:ea typeface="Arial" pitchFamily="34" charset="-122"/>
                <a:cs typeface="Arial" pitchFamily="34" charset="-120"/>
              </a:rPr>
              <a:t>Which kind of problem worried you most?</a:t>
            </a:r>
            <a:endParaRPr lang="en-US" sz="1600" dirty="0"/>
          </a:p>
        </p:txBody>
      </p:sp>
      <p:sp>
        <p:nvSpPr>
          <p:cNvPr id="10" name="Shape 8"/>
          <p:cNvSpPr/>
          <p:nvPr/>
        </p:nvSpPr>
        <p:spPr>
          <a:xfrm>
            <a:off x="815975" y="3266151"/>
            <a:ext cx="10560050" cy="550730"/>
          </a:xfrm>
          <a:prstGeom prst="roundRect">
            <a:avLst>
              <a:gd name="adj" fmla="val 17872"/>
            </a:avLst>
          </a:prstGeom>
          <a:solidFill>
            <a:srgbClr val="FDFCF9"/>
          </a:solidFill>
          <a:ln w="6350">
            <a:solidFill>
              <a:srgbClr val="DAD8CF"/>
            </a:solidFill>
            <a:prstDash val="solid"/>
          </a:ln>
        </p:spPr>
        <p:txBody>
          <a:bodyPr/>
          <a:lstStyle/>
          <a:p>
            <a:endParaRPr lang="en-US"/>
          </a:p>
        </p:txBody>
      </p:sp>
      <p:sp>
        <p:nvSpPr>
          <p:cNvPr id="11" name="Text 9"/>
          <p:cNvSpPr/>
          <p:nvPr/>
        </p:nvSpPr>
        <p:spPr>
          <a:xfrm>
            <a:off x="1020233" y="3381511"/>
            <a:ext cx="187986"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A64C9"/>
                </a:solidFill>
                <a:latin typeface="Courier New" pitchFamily="49" charset="0"/>
                <a:ea typeface="Courier New" pitchFamily="49" charset="-122"/>
                <a:cs typeface="Courier New" pitchFamily="49" charset="-120"/>
              </a:rPr>
              <a:t>3</a:t>
            </a:r>
            <a:endParaRPr lang="en-US" sz="1800" dirty="0"/>
          </a:p>
        </p:txBody>
      </p:sp>
      <p:sp>
        <p:nvSpPr>
          <p:cNvPr id="12" name="Text 10"/>
          <p:cNvSpPr/>
          <p:nvPr/>
        </p:nvSpPr>
        <p:spPr>
          <a:xfrm>
            <a:off x="1335220" y="3409423"/>
            <a:ext cx="4987052"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0E1A2B"/>
                </a:solidFill>
                <a:latin typeface="Arial" pitchFamily="34" charset="0"/>
                <a:ea typeface="Arial" pitchFamily="34" charset="-122"/>
                <a:cs typeface="Arial" pitchFamily="34" charset="-120"/>
              </a:rPr>
              <a:t>What would make your team trust this review?</a:t>
            </a:r>
            <a:endParaRPr lang="en-US" sz="1600" dirty="0"/>
          </a:p>
        </p:txBody>
      </p:sp>
      <p:sp>
        <p:nvSpPr>
          <p:cNvPr id="13" name="Shape 11"/>
          <p:cNvSpPr/>
          <p:nvPr/>
        </p:nvSpPr>
        <p:spPr>
          <a:xfrm>
            <a:off x="815975" y="3912133"/>
            <a:ext cx="10560050" cy="550730"/>
          </a:xfrm>
          <a:prstGeom prst="roundRect">
            <a:avLst>
              <a:gd name="adj" fmla="val 17872"/>
            </a:avLst>
          </a:prstGeom>
          <a:solidFill>
            <a:srgbClr val="FDFCF9"/>
          </a:solidFill>
          <a:ln w="6350">
            <a:solidFill>
              <a:srgbClr val="DAD8CF"/>
            </a:solidFill>
            <a:prstDash val="solid"/>
          </a:ln>
        </p:spPr>
        <p:txBody>
          <a:bodyPr/>
          <a:lstStyle/>
          <a:p>
            <a:endParaRPr lang="en-US"/>
          </a:p>
        </p:txBody>
      </p:sp>
      <p:sp>
        <p:nvSpPr>
          <p:cNvPr id="14" name="Text 12"/>
          <p:cNvSpPr/>
          <p:nvPr/>
        </p:nvSpPr>
        <p:spPr>
          <a:xfrm>
            <a:off x="1020233" y="4027488"/>
            <a:ext cx="187986"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A64C9"/>
                </a:solidFill>
                <a:latin typeface="Courier New" pitchFamily="49" charset="0"/>
                <a:ea typeface="Courier New" pitchFamily="49" charset="-122"/>
                <a:cs typeface="Courier New" pitchFamily="49" charset="-120"/>
              </a:rPr>
              <a:t>4</a:t>
            </a:r>
            <a:endParaRPr lang="en-US" sz="1800" dirty="0"/>
          </a:p>
        </p:txBody>
      </p:sp>
      <p:sp>
        <p:nvSpPr>
          <p:cNvPr id="15" name="Text 13"/>
          <p:cNvSpPr/>
          <p:nvPr/>
        </p:nvSpPr>
        <p:spPr>
          <a:xfrm>
            <a:off x="1335220" y="4055405"/>
            <a:ext cx="5353288"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0E1A2B"/>
                </a:solidFill>
                <a:latin typeface="Arial" pitchFamily="34" charset="0"/>
                <a:ea typeface="Arial" pitchFamily="34" charset="-122"/>
                <a:cs typeface="Arial" pitchFamily="34" charset="-120"/>
              </a:rPr>
              <a:t>Where would this review gate sit in your process?</a:t>
            </a:r>
            <a:endParaRPr lang="en-US" sz="1600" dirty="0"/>
          </a:p>
        </p:txBody>
      </p:sp>
      <p:sp>
        <p:nvSpPr>
          <p:cNvPr id="16" name="Text 14"/>
          <p:cNvSpPr/>
          <p:nvPr/>
        </p:nvSpPr>
        <p:spPr>
          <a:xfrm>
            <a:off x="812800" y="5194300"/>
            <a:ext cx="10566400" cy="647700"/>
          </a:xfrm>
          <a:prstGeom prst="roundRect">
            <a:avLst>
              <a:gd name="adj" fmla="val 15686"/>
            </a:avLst>
          </a:prstGeom>
          <a:solidFill>
            <a:srgbClr val="0E1A2B"/>
          </a:solidFill>
          <a:ln/>
        </p:spPr>
        <p:txBody>
          <a:bodyPr wrap="square" lIns="224242" tIns="135342" rIns="0" bIns="109942" rtlCol="0" anchor="t">
            <a:normAutofit/>
          </a:bodyPr>
          <a:lstStyle/>
          <a:p>
            <a:pPr marL="0" indent="0" algn="l">
              <a:lnSpc>
                <a:spcPts val="2500"/>
              </a:lnSpc>
              <a:buNone/>
            </a:pPr>
            <a:r>
              <a:rPr lang="en-US" sz="2000" b="1" dirty="0">
                <a:solidFill>
                  <a:srgbClr val="F7F6F1"/>
                </a:solidFill>
                <a:latin typeface="Arial" pitchFamily="34" charset="0"/>
                <a:ea typeface="Arial" pitchFamily="34" charset="-122"/>
                <a:cs typeface="Arial" pitchFamily="34" charset="-120"/>
              </a:rPr>
              <a:t>A clean result is valid, if you can say how you know.</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kern="0" spc="100" dirty="0">
                <a:solidFill>
                  <a:srgbClr val="7DB0FF"/>
                </a:solidFill>
                <a:latin typeface="Courier New" pitchFamily="49" charset="0"/>
                <a:ea typeface="Courier New" pitchFamily="49" charset="-122"/>
                <a:cs typeface="Courier New" pitchFamily="49" charset="-120"/>
              </a:rPr>
              <a:t>LAB 3</a:t>
            </a:r>
            <a:endParaRPr lang="en-US" sz="1600" dirty="0"/>
          </a:p>
        </p:txBody>
      </p:sp>
      <p:sp>
        <p:nvSpPr>
          <p:cNvPr id="3" name="Text 1"/>
          <p:cNvSpPr>
            <a:spLocks noGrp="1"/>
          </p:cNvSpPr>
          <p:nvPr>
            <p:ph type="title"/>
          </p:nvPr>
        </p:nvSpPr>
        <p:spPr>
          <a:xfrm>
            <a:off x="812800" y="1300429"/>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6F1"/>
                </a:solidFill>
                <a:latin typeface="Arial" pitchFamily="34" charset="0"/>
                <a:ea typeface="Arial" pitchFamily="34" charset="-122"/>
                <a:cs typeface="Arial" pitchFamily="34" charset="-120"/>
              </a:rPr>
              <a:t>Deterministic generation</a:t>
            </a:r>
            <a:endParaRPr lang="en-US" sz="4800" dirty="0"/>
          </a:p>
        </p:txBody>
      </p:sp>
      <p:sp>
        <p:nvSpPr>
          <p:cNvPr id="4" name="Text 2"/>
          <p:cNvSpPr/>
          <p:nvPr/>
        </p:nvSpPr>
        <p:spPr>
          <a:xfrm>
            <a:off x="812800" y="2174149"/>
            <a:ext cx="915670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4CFDC"/>
                </a:solidFill>
                <a:latin typeface="Arial" pitchFamily="34" charset="0"/>
                <a:ea typeface="Arial" pitchFamily="34" charset="-122"/>
                <a:cs typeface="Arial" pitchFamily="34" charset="-120"/>
              </a:rPr>
              <a:t>Run the code half of the pipeline, prove it repeatable, then see what the machine catches that you missed.</a:t>
            </a:r>
            <a:endParaRPr lang="en-US" sz="2000" dirty="0"/>
          </a:p>
        </p:txBody>
      </p:sp>
      <p:sp>
        <p:nvSpPr>
          <p:cNvPr id="5" name="Text 3"/>
          <p:cNvSpPr/>
          <p:nvPr/>
        </p:nvSpPr>
        <p:spPr>
          <a:xfrm>
            <a:off x="819150" y="3069499"/>
            <a:ext cx="1370145"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A: Generate</a:t>
            </a:r>
            <a:endParaRPr lang="en-US" sz="1500" dirty="0"/>
          </a:p>
        </p:txBody>
      </p:sp>
      <p:sp>
        <p:nvSpPr>
          <p:cNvPr id="6" name="Text 4"/>
          <p:cNvSpPr/>
          <p:nvPr/>
        </p:nvSpPr>
        <p:spPr>
          <a:xfrm>
            <a:off x="2328995" y="3069499"/>
            <a:ext cx="2831042"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B: Run twice, check git status</a:t>
            </a:r>
            <a:endParaRPr lang="en-US" sz="1500" dirty="0"/>
          </a:p>
        </p:txBody>
      </p:sp>
      <p:sp>
        <p:nvSpPr>
          <p:cNvPr id="7" name="Text 5"/>
          <p:cNvSpPr/>
          <p:nvPr/>
        </p:nvSpPr>
        <p:spPr>
          <a:xfrm>
            <a:off x="5299737" y="3069499"/>
            <a:ext cx="2513608"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C: init, validate, tflint, plan</a:t>
            </a:r>
            <a:endParaRPr lang="en-US" sz="1500" dirty="0"/>
          </a:p>
        </p:txBody>
      </p:sp>
      <p:sp>
        <p:nvSpPr>
          <p:cNvPr id="8" name="Text 6"/>
          <p:cNvSpPr/>
          <p:nvPr/>
        </p:nvSpPr>
        <p:spPr>
          <a:xfrm>
            <a:off x="819150" y="3666399"/>
            <a:ext cx="3424039"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D: Fix the flawed spec until it passes</a:t>
            </a:r>
            <a:endParaRPr lang="en-US" sz="1500" dirty="0"/>
          </a:p>
        </p:txBody>
      </p:sp>
      <p:sp>
        <p:nvSpPr>
          <p:cNvPr id="9" name="Text 7"/>
          <p:cNvSpPr/>
          <p:nvPr/>
        </p:nvSpPr>
        <p:spPr>
          <a:xfrm>
            <a:off x="812800" y="5161297"/>
            <a:ext cx="3983302" cy="680707"/>
          </a:xfrm>
          <a:prstGeom prst="roundRect">
            <a:avLst>
              <a:gd name="adj" fmla="val 14926"/>
            </a:avLst>
          </a:prstGeom>
          <a:solidFill>
            <a:srgbClr val="F2B134"/>
          </a:solidFill>
          <a:ln/>
        </p:spPr>
        <p:txBody>
          <a:bodyPr wrap="none" lIns="0" tIns="0" rIns="0" bIns="0" rtlCol="0" anchor="ctr">
            <a:normAutofit/>
          </a:bodyPr>
          <a:lstStyle/>
          <a:p>
            <a:pPr marL="0" indent="0" algn="ctr">
              <a:lnSpc>
                <a:spcPts val="3360"/>
              </a:lnSpc>
              <a:buNone/>
            </a:pPr>
            <a:r>
              <a:rPr lang="en-US" sz="2400" b="1" dirty="0">
                <a:solidFill>
                  <a:srgbClr val="0E1A2B"/>
                </a:solidFill>
                <a:latin typeface="Courier New" pitchFamily="49" charset="0"/>
                <a:ea typeface="Courier New" pitchFamily="49" charset="-122"/>
                <a:cs typeface="Courier New" pitchFamily="49" charset="-120"/>
              </a:rPr>
              <a:t>Hands-on ends 11:07</a:t>
            </a:r>
            <a:endParaRPr lang="en-US" sz="2400" dirty="0"/>
          </a:p>
        </p:txBody>
      </p:sp>
      <p:sp>
        <p:nvSpPr>
          <p:cNvPr id="10" name="Text 8"/>
          <p:cNvSpPr/>
          <p:nvPr/>
        </p:nvSpPr>
        <p:spPr>
          <a:xfrm>
            <a:off x="4958027" y="5172937"/>
            <a:ext cx="3449373" cy="657423"/>
          </a:xfrm>
          <a:prstGeom prst="roundRect">
            <a:avLst>
              <a:gd name="adj" fmla="val 14005"/>
            </a:avLst>
          </a:prstGeom>
          <a:noFill/>
          <a:ln w="19050">
            <a:solidFill>
              <a:srgbClr val="F2B134"/>
            </a:solidFill>
            <a:prstDash val="solid"/>
          </a:ln>
        </p:spPr>
        <p:txBody>
          <a:bodyPr wrap="none" lIns="0" tIns="0" rIns="0" bIns="0" rtlCol="0" anchor="ctr">
            <a:normAutofit/>
          </a:bodyPr>
          <a:lstStyle/>
          <a:p>
            <a:pPr marL="0" indent="0" algn="ctr">
              <a:lnSpc>
                <a:spcPts val="3360"/>
              </a:lnSpc>
              <a:buNone/>
            </a:pPr>
            <a:r>
              <a:rPr lang="en-US" sz="2400" b="1" dirty="0">
                <a:solidFill>
                  <a:srgbClr val="F2B134"/>
                </a:solidFill>
                <a:latin typeface="Courier New" pitchFamily="49" charset="0"/>
                <a:ea typeface="Courier New" pitchFamily="49" charset="-122"/>
                <a:cs typeface="Courier New" pitchFamily="49" charset="-120"/>
              </a:rPr>
              <a:t>Block ends 11:10</a:t>
            </a:r>
            <a:endParaRPr lang="en-US" sz="2400" dirty="0"/>
          </a:p>
        </p:txBody>
      </p:sp>
      <p:sp>
        <p:nvSpPr>
          <p:cNvPr id="11" name="Text 9"/>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A0B8"/>
                </a:solidFill>
                <a:latin typeface="Arial" pitchFamily="34" charset="0"/>
                <a:ea typeface="Arial" pitchFamily="34" charset="-122"/>
                <a:cs typeface="Arial" pitchFamily="34" charset="-120"/>
              </a:rPr>
              <a:t>No Azure subscription? Stop after tflint.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DEBRIEF · 11:07 TO 11:10</a:t>
            </a:r>
            <a:endParaRPr lang="en-US" sz="1400" dirty="0"/>
          </a:p>
        </p:txBody>
      </p:sp>
      <p:sp>
        <p:nvSpPr>
          <p:cNvPr id="3" name="Text 1"/>
          <p:cNvSpPr>
            <a:spLocks noGrp="1"/>
          </p:cNvSpPr>
          <p:nvPr>
            <p:ph type="title"/>
          </p:nvPr>
        </p:nvSpPr>
        <p:spPr>
          <a:xfrm>
            <a:off x="812800" y="1264909"/>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Lab 3: What did you notice?</a:t>
            </a:r>
            <a:endParaRPr lang="en-US" sz="3600" dirty="0"/>
          </a:p>
        </p:txBody>
      </p:sp>
      <p:sp>
        <p:nvSpPr>
          <p:cNvPr id="4" name="Shape 2"/>
          <p:cNvSpPr/>
          <p:nvPr/>
        </p:nvSpPr>
        <p:spPr>
          <a:xfrm>
            <a:off x="815975" y="1974193"/>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5" name="Text 3"/>
          <p:cNvSpPr/>
          <p:nvPr/>
        </p:nvSpPr>
        <p:spPr>
          <a:xfrm>
            <a:off x="1020233" y="2114947"/>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1</a:t>
            </a:r>
            <a:endParaRPr lang="en-US" sz="2000" dirty="0"/>
          </a:p>
        </p:txBody>
      </p:sp>
      <p:sp>
        <p:nvSpPr>
          <p:cNvPr id="6" name="Text 4"/>
          <p:cNvSpPr/>
          <p:nvPr/>
        </p:nvSpPr>
        <p:spPr>
          <a:xfrm>
            <a:off x="1350500" y="2144185"/>
            <a:ext cx="9149001"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Which problems did the machine catch, and which did only a human catch?</a:t>
            </a:r>
            <a:endParaRPr lang="en-US" sz="1800" dirty="0"/>
          </a:p>
        </p:txBody>
      </p:sp>
      <p:sp>
        <p:nvSpPr>
          <p:cNvPr id="7" name="Shape 5"/>
          <p:cNvSpPr/>
          <p:nvPr/>
        </p:nvSpPr>
        <p:spPr>
          <a:xfrm>
            <a:off x="815975" y="2719257"/>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8" name="Text 6"/>
          <p:cNvSpPr/>
          <p:nvPr/>
        </p:nvSpPr>
        <p:spPr>
          <a:xfrm>
            <a:off x="1020233" y="2860018"/>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2</a:t>
            </a:r>
            <a:endParaRPr lang="en-US" sz="2000" dirty="0"/>
          </a:p>
        </p:txBody>
      </p:sp>
      <p:sp>
        <p:nvSpPr>
          <p:cNvPr id="9" name="Text 7"/>
          <p:cNvSpPr/>
          <p:nvPr/>
        </p:nvSpPr>
        <p:spPr>
          <a:xfrm>
            <a:off x="1350500" y="2889250"/>
            <a:ext cx="9499203"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The schema checks the shape of the contract. What checks whether it is true?</a:t>
            </a:r>
            <a:endParaRPr lang="en-US" sz="1800" dirty="0"/>
          </a:p>
        </p:txBody>
      </p:sp>
      <p:sp>
        <p:nvSpPr>
          <p:cNvPr id="10" name="Shape 8"/>
          <p:cNvSpPr/>
          <p:nvPr/>
        </p:nvSpPr>
        <p:spPr>
          <a:xfrm>
            <a:off x="815975" y="3464322"/>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11" name="Text 9"/>
          <p:cNvSpPr/>
          <p:nvPr/>
        </p:nvSpPr>
        <p:spPr>
          <a:xfrm>
            <a:off x="1020233" y="3605082"/>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3</a:t>
            </a:r>
            <a:endParaRPr lang="en-US" sz="2000" dirty="0"/>
          </a:p>
        </p:txBody>
      </p:sp>
      <p:sp>
        <p:nvSpPr>
          <p:cNvPr id="12" name="Text 10"/>
          <p:cNvSpPr/>
          <p:nvPr/>
        </p:nvSpPr>
        <p:spPr>
          <a:xfrm>
            <a:off x="1350500" y="3634321"/>
            <a:ext cx="7807008"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What changes about review when the next step is deterministic?</a:t>
            </a:r>
            <a:endParaRPr lang="en-US" sz="1800" dirty="0"/>
          </a:p>
        </p:txBody>
      </p:sp>
      <p:sp>
        <p:nvSpPr>
          <p:cNvPr id="13" name="Text 11"/>
          <p:cNvSpPr/>
          <p:nvPr/>
        </p:nvSpPr>
        <p:spPr>
          <a:xfrm>
            <a:off x="812800" y="5137150"/>
            <a:ext cx="10566400" cy="704850"/>
          </a:xfrm>
          <a:prstGeom prst="roundRect">
            <a:avLst>
              <a:gd name="adj" fmla="val 14414"/>
            </a:avLst>
          </a:prstGeom>
          <a:solidFill>
            <a:srgbClr val="0E1A2B"/>
          </a:solidFill>
          <a:ln/>
        </p:spPr>
        <p:txBody>
          <a:bodyPr wrap="square" lIns="224242" tIns="148042" rIns="0" bIns="122642" rtlCol="0" anchor="t">
            <a:normAutofit/>
          </a:bodyPr>
          <a:lstStyle/>
          <a:p>
            <a:pPr marL="0" indent="0" algn="l">
              <a:lnSpc>
                <a:spcPts val="2750"/>
              </a:lnSpc>
              <a:buNone/>
            </a:pPr>
            <a:r>
              <a:rPr lang="en-US" sz="2200" b="1" dirty="0">
                <a:solidFill>
                  <a:srgbClr val="F7F6F1"/>
                </a:solidFill>
                <a:latin typeface="Arial" pitchFamily="34" charset="0"/>
                <a:ea typeface="Arial" pitchFamily="34" charset="-122"/>
                <a:cs typeface="Arial" pitchFamily="34" charset="-120"/>
              </a:rPr>
              <a:t>The generator accepted six of nine flaws. Review is your job.</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164097"/>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i="0" dirty="0">
                <a:solidFill>
                  <a:srgbClr val="F7F6F1"/>
                </a:solidFill>
                <a:latin typeface="Arial" pitchFamily="34" charset="0"/>
                <a:ea typeface="Arial" pitchFamily="34" charset="-122"/>
                <a:cs typeface="Arial" pitchFamily="34" charset="-120"/>
              </a:rPr>
              <a:t>Break</a:t>
            </a:r>
            <a:endParaRPr lang="en-US" sz="10000" dirty="0"/>
          </a:p>
        </p:txBody>
      </p:sp>
      <p:sp>
        <p:nvSpPr>
          <p:cNvPr id="3" name="Text 1"/>
          <p:cNvSpPr/>
          <p:nvPr/>
        </p:nvSpPr>
        <p:spPr>
          <a:xfrm>
            <a:off x="812800" y="3637297"/>
            <a:ext cx="10883392" cy="878814"/>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B134"/>
                </a:solidFill>
                <a:latin typeface="Courier New" pitchFamily="49" charset="0"/>
                <a:ea typeface="Courier New" pitchFamily="49" charset="-122"/>
                <a:cs typeface="Courier New" pitchFamily="49" charset="-120"/>
              </a:rPr>
              <a:t>Back at 11:15</a:t>
            </a:r>
            <a:endParaRPr lang="en-US" sz="4800" dirty="0"/>
          </a:p>
        </p:txBody>
      </p:sp>
      <p:sp>
        <p:nvSpPr>
          <p:cNvPr id="4" name="Text 2"/>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A0B8"/>
                </a:solidFill>
                <a:latin typeface="Arial" pitchFamily="34" charset="0"/>
                <a:ea typeface="Arial" pitchFamily="34" charset="-122"/>
                <a:cs typeface="Arial" pitchFamily="34" charset="-120"/>
              </a:rPr>
              <a:t>No working spec after Lab 3? Copy the reference spec and regenerate, so Lab 4 has a base.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kern="0" spc="100" dirty="0">
                <a:solidFill>
                  <a:srgbClr val="7DB0FF"/>
                </a:solidFill>
                <a:latin typeface="Courier New" pitchFamily="49" charset="0"/>
                <a:ea typeface="Courier New" pitchFamily="49" charset="-122"/>
                <a:cs typeface="Courier New" pitchFamily="49" charset="-120"/>
              </a:rPr>
              <a:t>LAB 4</a:t>
            </a:r>
            <a:endParaRPr lang="en-US" sz="1600" dirty="0"/>
          </a:p>
        </p:txBody>
      </p:sp>
      <p:sp>
        <p:nvSpPr>
          <p:cNvPr id="3" name="Text 1"/>
          <p:cNvSpPr>
            <a:spLocks noGrp="1"/>
          </p:cNvSpPr>
          <p:nvPr>
            <p:ph type="title"/>
          </p:nvPr>
        </p:nvSpPr>
        <p:spPr>
          <a:xfrm>
            <a:off x="812800" y="1300429"/>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6F1"/>
                </a:solidFill>
                <a:latin typeface="Arial" pitchFamily="34" charset="0"/>
                <a:ea typeface="Arial" pitchFamily="34" charset="-122"/>
                <a:cs typeface="Arial" pitchFamily="34" charset="-120"/>
              </a:rPr>
              <a:t>Extend the generator</a:t>
            </a:r>
            <a:endParaRPr lang="en-US" sz="4800" dirty="0"/>
          </a:p>
        </p:txBody>
      </p:sp>
      <p:sp>
        <p:nvSpPr>
          <p:cNvPr id="4" name="Text 2"/>
          <p:cNvSpPr/>
          <p:nvPr/>
        </p:nvSpPr>
        <p:spPr>
          <a:xfrm>
            <a:off x="812800" y="2174149"/>
            <a:ext cx="9156700"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4CFDC"/>
                </a:solidFill>
                <a:latin typeface="Arial" pitchFamily="34" charset="0"/>
                <a:ea typeface="Arial" pitchFamily="34" charset="-122"/>
                <a:cs typeface="Arial" pitchFamily="34" charset="-120"/>
              </a:rPr>
              <a:t>Teach it a new resource type: a Service Bus queue.</a:t>
            </a:r>
            <a:endParaRPr lang="en-US" sz="2000" dirty="0"/>
          </a:p>
        </p:txBody>
      </p:sp>
      <p:sp>
        <p:nvSpPr>
          <p:cNvPr id="5" name="Text 3"/>
          <p:cNvSpPr/>
          <p:nvPr/>
        </p:nvSpPr>
        <p:spPr>
          <a:xfrm>
            <a:off x="819150" y="2726599"/>
            <a:ext cx="1430338"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1: Type table</a:t>
            </a:r>
            <a:endParaRPr lang="en-US" sz="1500" dirty="0"/>
          </a:p>
        </p:txBody>
      </p:sp>
      <p:sp>
        <p:nvSpPr>
          <p:cNvPr id="6" name="Text 4"/>
          <p:cNvSpPr/>
          <p:nvPr/>
        </p:nvSpPr>
        <p:spPr>
          <a:xfrm>
            <a:off x="2389188" y="2726599"/>
            <a:ext cx="1581745"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2: Action script</a:t>
            </a:r>
            <a:endParaRPr lang="en-US" sz="1500" dirty="0"/>
          </a:p>
        </p:txBody>
      </p:sp>
      <p:sp>
        <p:nvSpPr>
          <p:cNvPr id="7" name="Text 5"/>
          <p:cNvSpPr/>
          <p:nvPr/>
        </p:nvSpPr>
        <p:spPr>
          <a:xfrm>
            <a:off x="4110633" y="2726599"/>
            <a:ext cx="1253596"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3: Schema</a:t>
            </a:r>
            <a:endParaRPr lang="en-US" sz="1500" dirty="0"/>
          </a:p>
        </p:txBody>
      </p:sp>
      <p:sp>
        <p:nvSpPr>
          <p:cNvPr id="8" name="Text 6"/>
          <p:cNvSpPr/>
          <p:nvPr/>
        </p:nvSpPr>
        <p:spPr>
          <a:xfrm>
            <a:off x="5503929" y="2726599"/>
            <a:ext cx="2175007"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4: Dependency check</a:t>
            </a:r>
            <a:endParaRPr lang="en-US" sz="1500" dirty="0"/>
          </a:p>
        </p:txBody>
      </p:sp>
      <p:sp>
        <p:nvSpPr>
          <p:cNvPr id="9" name="Text 7"/>
          <p:cNvSpPr/>
          <p:nvPr/>
        </p:nvSpPr>
        <p:spPr>
          <a:xfrm>
            <a:off x="812800" y="5161297"/>
            <a:ext cx="3983302" cy="680707"/>
          </a:xfrm>
          <a:prstGeom prst="roundRect">
            <a:avLst>
              <a:gd name="adj" fmla="val 14926"/>
            </a:avLst>
          </a:prstGeom>
          <a:solidFill>
            <a:srgbClr val="F2B134"/>
          </a:solidFill>
          <a:ln/>
        </p:spPr>
        <p:txBody>
          <a:bodyPr wrap="none" lIns="0" tIns="0" rIns="0" bIns="0" rtlCol="0" anchor="ctr">
            <a:normAutofit/>
          </a:bodyPr>
          <a:lstStyle/>
          <a:p>
            <a:pPr marL="0" indent="0" algn="ctr">
              <a:lnSpc>
                <a:spcPts val="3360"/>
              </a:lnSpc>
              <a:buNone/>
            </a:pPr>
            <a:r>
              <a:rPr lang="en-US" sz="2400" b="1" dirty="0">
                <a:solidFill>
                  <a:srgbClr val="0E1A2B"/>
                </a:solidFill>
                <a:latin typeface="Courier New" pitchFamily="49" charset="0"/>
                <a:ea typeface="Courier New" pitchFamily="49" charset="-122"/>
                <a:cs typeface="Courier New" pitchFamily="49" charset="-120"/>
              </a:rPr>
              <a:t>Hands-on ends 11:32</a:t>
            </a:r>
            <a:endParaRPr lang="en-US" sz="2400" dirty="0"/>
          </a:p>
        </p:txBody>
      </p:sp>
      <p:sp>
        <p:nvSpPr>
          <p:cNvPr id="10" name="Text 8"/>
          <p:cNvSpPr/>
          <p:nvPr/>
        </p:nvSpPr>
        <p:spPr>
          <a:xfrm>
            <a:off x="4958027" y="5172937"/>
            <a:ext cx="3449373" cy="657423"/>
          </a:xfrm>
          <a:prstGeom prst="roundRect">
            <a:avLst>
              <a:gd name="adj" fmla="val 14005"/>
            </a:avLst>
          </a:prstGeom>
          <a:noFill/>
          <a:ln w="19050">
            <a:solidFill>
              <a:srgbClr val="F2B134"/>
            </a:solidFill>
            <a:prstDash val="solid"/>
          </a:ln>
        </p:spPr>
        <p:txBody>
          <a:bodyPr wrap="none" lIns="0" tIns="0" rIns="0" bIns="0" rtlCol="0" anchor="ctr">
            <a:normAutofit/>
          </a:bodyPr>
          <a:lstStyle/>
          <a:p>
            <a:pPr marL="0" indent="0" algn="ctr">
              <a:lnSpc>
                <a:spcPts val="3360"/>
              </a:lnSpc>
              <a:buNone/>
            </a:pPr>
            <a:r>
              <a:rPr lang="en-US" sz="2400" b="1" dirty="0">
                <a:solidFill>
                  <a:srgbClr val="F2B134"/>
                </a:solidFill>
                <a:latin typeface="Courier New" pitchFamily="49" charset="0"/>
                <a:ea typeface="Courier New" pitchFamily="49" charset="-122"/>
                <a:cs typeface="Courier New" pitchFamily="49" charset="-120"/>
              </a:rPr>
              <a:t>Block ends 11:35</a:t>
            </a:r>
            <a:endParaRPr lang="en-US" sz="2400" dirty="0"/>
          </a:p>
        </p:txBody>
      </p:sp>
      <p:sp>
        <p:nvSpPr>
          <p:cNvPr id="11" name="Text 9"/>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A0B8"/>
                </a:solidFill>
                <a:latin typeface="Arial" pitchFamily="34" charset="0"/>
                <a:ea typeface="Arial" pitchFamily="34" charset="-122"/>
                <a:cs typeface="Arial" pitchFamily="34" charset="-120"/>
              </a:rPr>
              <a:t>Stuck? Compare with workshop-kit\lab4\solution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DEBRIEF · 11:32 TO 11:35</a:t>
            </a:r>
            <a:endParaRPr lang="en-US" sz="1400" dirty="0"/>
          </a:p>
        </p:txBody>
      </p:sp>
      <p:sp>
        <p:nvSpPr>
          <p:cNvPr id="3" name="Text 1"/>
          <p:cNvSpPr>
            <a:spLocks noGrp="1"/>
          </p:cNvSpPr>
          <p:nvPr>
            <p:ph type="title"/>
          </p:nvPr>
        </p:nvSpPr>
        <p:spPr>
          <a:xfrm>
            <a:off x="812800" y="12649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Lab 4: What did you notice?</a:t>
            </a:r>
            <a:endParaRPr lang="en-US" sz="3600" dirty="0"/>
          </a:p>
        </p:txBody>
      </p:sp>
      <p:sp>
        <p:nvSpPr>
          <p:cNvPr id="4" name="Shape 2"/>
          <p:cNvSpPr/>
          <p:nvPr/>
        </p:nvSpPr>
        <p:spPr>
          <a:xfrm>
            <a:off x="815975" y="1974193"/>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5" name="Text 3"/>
          <p:cNvSpPr/>
          <p:nvPr/>
        </p:nvSpPr>
        <p:spPr>
          <a:xfrm>
            <a:off x="1020233" y="2114947"/>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1</a:t>
            </a:r>
            <a:endParaRPr lang="en-US" sz="2000" dirty="0"/>
          </a:p>
        </p:txBody>
      </p:sp>
      <p:sp>
        <p:nvSpPr>
          <p:cNvPr id="6" name="Text 4"/>
          <p:cNvSpPr/>
          <p:nvPr/>
        </p:nvSpPr>
        <p:spPr>
          <a:xfrm>
            <a:off x="1350500" y="2144192"/>
            <a:ext cx="3568303"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How much of this needed AI?</a:t>
            </a:r>
            <a:endParaRPr lang="en-US" sz="1800" dirty="0"/>
          </a:p>
        </p:txBody>
      </p:sp>
      <p:sp>
        <p:nvSpPr>
          <p:cNvPr id="7" name="Shape 5"/>
          <p:cNvSpPr/>
          <p:nvPr/>
        </p:nvSpPr>
        <p:spPr>
          <a:xfrm>
            <a:off x="815975" y="2719263"/>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8" name="Text 6"/>
          <p:cNvSpPr/>
          <p:nvPr/>
        </p:nvSpPr>
        <p:spPr>
          <a:xfrm>
            <a:off x="1020233" y="2860018"/>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2</a:t>
            </a:r>
            <a:endParaRPr lang="en-US" sz="2000" dirty="0"/>
          </a:p>
        </p:txBody>
      </p:sp>
      <p:sp>
        <p:nvSpPr>
          <p:cNvPr id="9" name="Text 7"/>
          <p:cNvSpPr/>
          <p:nvPr/>
        </p:nvSpPr>
        <p:spPr>
          <a:xfrm>
            <a:off x="1350500" y="2889250"/>
            <a:ext cx="7486650"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Why do security defaults live in the script instead of the spec?</a:t>
            </a:r>
            <a:endParaRPr lang="en-US" sz="1800" dirty="0"/>
          </a:p>
        </p:txBody>
      </p:sp>
      <p:sp>
        <p:nvSpPr>
          <p:cNvPr id="10" name="Shape 8"/>
          <p:cNvSpPr/>
          <p:nvPr/>
        </p:nvSpPr>
        <p:spPr>
          <a:xfrm>
            <a:off x="815975" y="3464322"/>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11" name="Text 9"/>
          <p:cNvSpPr/>
          <p:nvPr/>
        </p:nvSpPr>
        <p:spPr>
          <a:xfrm>
            <a:off x="1020233" y="3605088"/>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3</a:t>
            </a:r>
            <a:endParaRPr lang="en-US" sz="2000" dirty="0"/>
          </a:p>
        </p:txBody>
      </p:sp>
      <p:sp>
        <p:nvSpPr>
          <p:cNvPr id="12" name="Text 10"/>
          <p:cNvSpPr/>
          <p:nvPr/>
        </p:nvSpPr>
        <p:spPr>
          <a:xfrm>
            <a:off x="1350500" y="3634321"/>
            <a:ext cx="7608650"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Which standard on your team would you encode this way first?</a:t>
            </a:r>
            <a:endParaRPr lang="en-US" sz="1800" dirty="0"/>
          </a:p>
        </p:txBody>
      </p:sp>
      <p:sp>
        <p:nvSpPr>
          <p:cNvPr id="13" name="Text 11"/>
          <p:cNvSpPr/>
          <p:nvPr/>
        </p:nvSpPr>
        <p:spPr>
          <a:xfrm>
            <a:off x="812800" y="5137150"/>
            <a:ext cx="10566400" cy="704850"/>
          </a:xfrm>
          <a:prstGeom prst="roundRect">
            <a:avLst>
              <a:gd name="adj" fmla="val 14414"/>
            </a:avLst>
          </a:prstGeom>
          <a:solidFill>
            <a:srgbClr val="0E1A2B"/>
          </a:solidFill>
          <a:ln/>
        </p:spPr>
        <p:txBody>
          <a:bodyPr wrap="square" lIns="224242" tIns="148042" rIns="0" bIns="122642" rtlCol="0" anchor="t">
            <a:normAutofit/>
          </a:bodyPr>
          <a:lstStyle/>
          <a:p>
            <a:pPr marL="0" indent="0" algn="l">
              <a:lnSpc>
                <a:spcPts val="2750"/>
              </a:lnSpc>
              <a:buNone/>
            </a:pPr>
            <a:r>
              <a:rPr lang="en-US" sz="2200" b="1" dirty="0">
                <a:solidFill>
                  <a:srgbClr val="F7F6F1"/>
                </a:solidFill>
                <a:latin typeface="Arial" pitchFamily="34" charset="0"/>
                <a:ea typeface="Arial" pitchFamily="34" charset="-122"/>
                <a:cs typeface="Arial" pitchFamily="34" charset="-120"/>
              </a:rPr>
              <a:t>One script and one schema entry. No AI required.</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kern="0" spc="100" dirty="0">
                <a:solidFill>
                  <a:srgbClr val="7DB0FF"/>
                </a:solidFill>
                <a:latin typeface="Courier New" pitchFamily="49" charset="0"/>
                <a:ea typeface="Courier New" pitchFamily="49" charset="-122"/>
                <a:cs typeface="Courier New" pitchFamily="49" charset="-120"/>
              </a:rPr>
              <a:t>LAB 5</a:t>
            </a:r>
            <a:endParaRPr lang="en-US" sz="1600" dirty="0"/>
          </a:p>
        </p:txBody>
      </p:sp>
      <p:sp>
        <p:nvSpPr>
          <p:cNvPr id="3" name="Text 1"/>
          <p:cNvSpPr>
            <a:spLocks noGrp="1"/>
          </p:cNvSpPr>
          <p:nvPr>
            <p:ph type="title"/>
          </p:nvPr>
        </p:nvSpPr>
        <p:spPr>
          <a:xfrm>
            <a:off x="812800" y="1300435"/>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6F1"/>
                </a:solidFill>
                <a:latin typeface="Arial" pitchFamily="34" charset="0"/>
                <a:ea typeface="Arial" pitchFamily="34" charset="-122"/>
                <a:cs typeface="Arial" pitchFamily="34" charset="-120"/>
              </a:rPr>
              <a:t>Watch a change flow through</a:t>
            </a:r>
            <a:endParaRPr lang="en-US" sz="4800" dirty="0"/>
          </a:p>
        </p:txBody>
      </p:sp>
      <p:sp>
        <p:nvSpPr>
          <p:cNvPr id="4" name="Text 2"/>
          <p:cNvSpPr/>
          <p:nvPr/>
        </p:nvSpPr>
        <p:spPr>
          <a:xfrm>
            <a:off x="812800" y="2174156"/>
            <a:ext cx="9156700"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4CFDC"/>
                </a:solidFill>
                <a:latin typeface="Arial" pitchFamily="34" charset="0"/>
                <a:ea typeface="Arial" pitchFamily="34" charset="-122"/>
                <a:cs typeface="Arial" pitchFamily="34" charset="-120"/>
              </a:rPr>
              <a:t>See what a diff means when the pipeline is deterministic.</a:t>
            </a:r>
            <a:endParaRPr lang="en-US" sz="2000" dirty="0"/>
          </a:p>
        </p:txBody>
      </p:sp>
      <p:sp>
        <p:nvSpPr>
          <p:cNvPr id="5" name="Text 3"/>
          <p:cNvSpPr/>
          <p:nvPr/>
        </p:nvSpPr>
        <p:spPr>
          <a:xfrm>
            <a:off x="819150" y="2726606"/>
            <a:ext cx="2715220"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1: Save a copy of the output</a:t>
            </a:r>
            <a:endParaRPr lang="en-US" sz="1500" dirty="0"/>
          </a:p>
        </p:txBody>
      </p:sp>
      <p:sp>
        <p:nvSpPr>
          <p:cNvPr id="6" name="Text 4"/>
          <p:cNvSpPr/>
          <p:nvPr/>
        </p:nvSpPr>
        <p:spPr>
          <a:xfrm>
            <a:off x="3674070" y="2726606"/>
            <a:ext cx="3174206"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2: Change one value in the YAML</a:t>
            </a:r>
            <a:endParaRPr lang="en-US" sz="1500" dirty="0"/>
          </a:p>
        </p:txBody>
      </p:sp>
      <p:sp>
        <p:nvSpPr>
          <p:cNvPr id="7" name="Text 5"/>
          <p:cNvSpPr/>
          <p:nvPr/>
        </p:nvSpPr>
        <p:spPr>
          <a:xfrm>
            <a:off x="6987977" y="2726606"/>
            <a:ext cx="1550326"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3: Regenerate</a:t>
            </a:r>
            <a:endParaRPr lang="en-US" sz="1500" dirty="0"/>
          </a:p>
        </p:txBody>
      </p:sp>
      <p:sp>
        <p:nvSpPr>
          <p:cNvPr id="8" name="Text 6"/>
          <p:cNvSpPr/>
          <p:nvPr/>
        </p:nvSpPr>
        <p:spPr>
          <a:xfrm>
            <a:off x="8678003" y="2726606"/>
            <a:ext cx="837009" cy="457200"/>
          </a:xfrm>
          <a:prstGeom prst="roundRect">
            <a:avLst>
              <a:gd name="adj" fmla="val 15278"/>
            </a:avLst>
          </a:prstGeom>
          <a:noFill/>
          <a:ln w="12700">
            <a:solidFill>
              <a:srgbClr val="3A4B63"/>
            </a:solidFill>
            <a:prstDash val="solid"/>
          </a:ln>
        </p:spPr>
        <p:txBody>
          <a:bodyPr wrap="none" lIns="0" tIns="0" rIns="0" bIns="0" rtlCol="0" anchor="ctr">
            <a:normAutofit/>
          </a:bodyPr>
          <a:lstStyle/>
          <a:p>
            <a:pPr marL="0" indent="0" algn="ctr">
              <a:lnSpc>
                <a:spcPts val="2100"/>
              </a:lnSpc>
              <a:buNone/>
            </a:pPr>
            <a:r>
              <a:rPr lang="en-US" sz="1500" dirty="0">
                <a:solidFill>
                  <a:srgbClr val="C4CFDC"/>
                </a:solidFill>
                <a:latin typeface="Arial" pitchFamily="34" charset="0"/>
                <a:ea typeface="Arial" pitchFamily="34" charset="-122"/>
                <a:cs typeface="Arial" pitchFamily="34" charset="-120"/>
              </a:rPr>
              <a:t>4: Diff</a:t>
            </a:r>
            <a:endParaRPr lang="en-US" sz="1500" dirty="0"/>
          </a:p>
        </p:txBody>
      </p:sp>
      <p:sp>
        <p:nvSpPr>
          <p:cNvPr id="9" name="Text 7"/>
          <p:cNvSpPr/>
          <p:nvPr/>
        </p:nvSpPr>
        <p:spPr>
          <a:xfrm>
            <a:off x="812800" y="5161297"/>
            <a:ext cx="3983302" cy="680707"/>
          </a:xfrm>
          <a:prstGeom prst="roundRect">
            <a:avLst>
              <a:gd name="adj" fmla="val 14926"/>
            </a:avLst>
          </a:prstGeom>
          <a:solidFill>
            <a:srgbClr val="F2B134"/>
          </a:solidFill>
          <a:ln/>
        </p:spPr>
        <p:txBody>
          <a:bodyPr wrap="none" lIns="0" tIns="0" rIns="0" bIns="0" rtlCol="0" anchor="ctr">
            <a:normAutofit/>
          </a:bodyPr>
          <a:lstStyle/>
          <a:p>
            <a:pPr marL="0" indent="0" algn="ctr">
              <a:lnSpc>
                <a:spcPts val="3360"/>
              </a:lnSpc>
              <a:buNone/>
            </a:pPr>
            <a:r>
              <a:rPr lang="en-US" sz="2400" b="1" dirty="0">
                <a:solidFill>
                  <a:srgbClr val="0E1A2B"/>
                </a:solidFill>
                <a:latin typeface="Courier New" pitchFamily="49" charset="0"/>
                <a:ea typeface="Courier New" pitchFamily="49" charset="-122"/>
                <a:cs typeface="Courier New" pitchFamily="49" charset="-120"/>
              </a:rPr>
              <a:t>Hands-on ends 11:47</a:t>
            </a:r>
            <a:endParaRPr lang="en-US" sz="2400" dirty="0"/>
          </a:p>
        </p:txBody>
      </p:sp>
      <p:sp>
        <p:nvSpPr>
          <p:cNvPr id="10" name="Text 8"/>
          <p:cNvSpPr/>
          <p:nvPr/>
        </p:nvSpPr>
        <p:spPr>
          <a:xfrm>
            <a:off x="4958027" y="5172943"/>
            <a:ext cx="3449373" cy="657423"/>
          </a:xfrm>
          <a:prstGeom prst="roundRect">
            <a:avLst>
              <a:gd name="adj" fmla="val 14005"/>
            </a:avLst>
          </a:prstGeom>
          <a:noFill/>
          <a:ln w="19050">
            <a:solidFill>
              <a:srgbClr val="F2B134"/>
            </a:solidFill>
            <a:prstDash val="solid"/>
          </a:ln>
        </p:spPr>
        <p:txBody>
          <a:bodyPr wrap="none" lIns="0" tIns="0" rIns="0" bIns="0" rtlCol="0" anchor="ctr">
            <a:normAutofit/>
          </a:bodyPr>
          <a:lstStyle/>
          <a:p>
            <a:pPr marL="0" indent="0" algn="ctr">
              <a:lnSpc>
                <a:spcPts val="3360"/>
              </a:lnSpc>
              <a:buNone/>
            </a:pPr>
            <a:r>
              <a:rPr lang="en-US" sz="2400" b="1" dirty="0">
                <a:solidFill>
                  <a:srgbClr val="F2B134"/>
                </a:solidFill>
                <a:latin typeface="Courier New" pitchFamily="49" charset="0"/>
                <a:ea typeface="Courier New" pitchFamily="49" charset="-122"/>
                <a:cs typeface="Courier New" pitchFamily="49" charset="-120"/>
              </a:rPr>
              <a:t>Block ends 11:50</a:t>
            </a:r>
            <a:endParaRPr lang="en-US" sz="2400" dirty="0"/>
          </a:p>
        </p:txBody>
      </p:sp>
      <p:sp>
        <p:nvSpPr>
          <p:cNvPr id="11" name="Text 9"/>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A0B8"/>
                </a:solidFill>
                <a:latin typeface="Arial" pitchFamily="34" charset="0"/>
                <a:ea typeface="Arial" pitchFamily="34" charset="-122"/>
                <a:cs typeface="Arial" pitchFamily="34" charset="-120"/>
              </a:rPr>
              <a:t>Hint: ignore the hash header with git diff --no-index -I '# Source:'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DEBRIEF · 11:47 TO 11:50</a:t>
            </a:r>
            <a:endParaRPr lang="en-US" sz="1400" dirty="0"/>
          </a:p>
        </p:txBody>
      </p:sp>
      <p:sp>
        <p:nvSpPr>
          <p:cNvPr id="3" name="Text 1"/>
          <p:cNvSpPr>
            <a:spLocks noGrp="1"/>
          </p:cNvSpPr>
          <p:nvPr>
            <p:ph type="title"/>
          </p:nvPr>
        </p:nvSpPr>
        <p:spPr>
          <a:xfrm>
            <a:off x="812800" y="12649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Lab 5: What did you notice?</a:t>
            </a:r>
            <a:endParaRPr lang="en-US" sz="3600" dirty="0"/>
          </a:p>
        </p:txBody>
      </p:sp>
      <p:sp>
        <p:nvSpPr>
          <p:cNvPr id="4" name="Shape 2"/>
          <p:cNvSpPr/>
          <p:nvPr/>
        </p:nvSpPr>
        <p:spPr>
          <a:xfrm>
            <a:off x="815975" y="1974193"/>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5" name="Text 3"/>
          <p:cNvSpPr/>
          <p:nvPr/>
        </p:nvSpPr>
        <p:spPr>
          <a:xfrm>
            <a:off x="1020233" y="2114947"/>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1</a:t>
            </a:r>
            <a:endParaRPr lang="en-US" sz="2000" dirty="0"/>
          </a:p>
        </p:txBody>
      </p:sp>
      <p:sp>
        <p:nvSpPr>
          <p:cNvPr id="6" name="Text 4"/>
          <p:cNvSpPr/>
          <p:nvPr/>
        </p:nvSpPr>
        <p:spPr>
          <a:xfrm>
            <a:off x="1350500" y="2144192"/>
            <a:ext cx="7487682"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After setting aside the hash header, how many files changed?</a:t>
            </a:r>
            <a:endParaRPr lang="en-US" sz="1800" dirty="0"/>
          </a:p>
        </p:txBody>
      </p:sp>
      <p:sp>
        <p:nvSpPr>
          <p:cNvPr id="7" name="Shape 5"/>
          <p:cNvSpPr/>
          <p:nvPr/>
        </p:nvSpPr>
        <p:spPr>
          <a:xfrm>
            <a:off x="815975" y="2719263"/>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8" name="Text 6"/>
          <p:cNvSpPr/>
          <p:nvPr/>
        </p:nvSpPr>
        <p:spPr>
          <a:xfrm>
            <a:off x="1020233" y="2860018"/>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2</a:t>
            </a:r>
            <a:endParaRPr lang="en-US" sz="2000" dirty="0"/>
          </a:p>
        </p:txBody>
      </p:sp>
      <p:sp>
        <p:nvSpPr>
          <p:cNvPr id="9" name="Text 7"/>
          <p:cNvSpPr/>
          <p:nvPr/>
        </p:nvSpPr>
        <p:spPr>
          <a:xfrm>
            <a:off x="1350500" y="2889250"/>
            <a:ext cx="2602468"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How big was the diff?</a:t>
            </a:r>
            <a:endParaRPr lang="en-US" sz="1800" dirty="0"/>
          </a:p>
        </p:txBody>
      </p:sp>
      <p:sp>
        <p:nvSpPr>
          <p:cNvPr id="10" name="Shape 8"/>
          <p:cNvSpPr/>
          <p:nvPr/>
        </p:nvSpPr>
        <p:spPr>
          <a:xfrm>
            <a:off x="815975" y="3464322"/>
            <a:ext cx="10560050" cy="637117"/>
          </a:xfrm>
          <a:prstGeom prst="roundRect">
            <a:avLst>
              <a:gd name="adj" fmla="val 15448"/>
            </a:avLst>
          </a:prstGeom>
          <a:solidFill>
            <a:srgbClr val="FDFCF9"/>
          </a:solidFill>
          <a:ln w="6350">
            <a:solidFill>
              <a:srgbClr val="DAD8CF"/>
            </a:solidFill>
            <a:prstDash val="solid"/>
          </a:ln>
        </p:spPr>
        <p:txBody>
          <a:bodyPr/>
          <a:lstStyle/>
          <a:p>
            <a:endParaRPr lang="en-US"/>
          </a:p>
        </p:txBody>
      </p:sp>
      <p:sp>
        <p:nvSpPr>
          <p:cNvPr id="11" name="Text 9"/>
          <p:cNvSpPr/>
          <p:nvPr/>
        </p:nvSpPr>
        <p:spPr>
          <a:xfrm>
            <a:off x="1020233" y="3605088"/>
            <a:ext cx="20326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4C9"/>
                </a:solidFill>
                <a:latin typeface="Courier New" pitchFamily="49" charset="0"/>
                <a:ea typeface="Courier New" pitchFamily="49" charset="-122"/>
                <a:cs typeface="Courier New" pitchFamily="49" charset="-120"/>
              </a:rPr>
              <a:t>3</a:t>
            </a:r>
            <a:endParaRPr lang="en-US" sz="2000" dirty="0"/>
          </a:p>
        </p:txBody>
      </p:sp>
      <p:sp>
        <p:nvSpPr>
          <p:cNvPr id="12" name="Text 10"/>
          <p:cNvSpPr/>
          <p:nvPr/>
        </p:nvSpPr>
        <p:spPr>
          <a:xfrm>
            <a:off x="1350500" y="3634321"/>
            <a:ext cx="5504815" cy="322527"/>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E1A2B"/>
                </a:solidFill>
                <a:latin typeface="Arial" pitchFamily="34" charset="0"/>
                <a:ea typeface="Arial" pitchFamily="34" charset="-122"/>
                <a:cs typeface="Arial" pitchFamily="34" charset="-120"/>
              </a:rPr>
              <a:t>Could a reviewer approve this in one minute?</a:t>
            </a:r>
            <a:endParaRPr lang="en-US" sz="1800" dirty="0"/>
          </a:p>
        </p:txBody>
      </p:sp>
      <p:sp>
        <p:nvSpPr>
          <p:cNvPr id="13" name="Text 11"/>
          <p:cNvSpPr/>
          <p:nvPr/>
        </p:nvSpPr>
        <p:spPr>
          <a:xfrm>
            <a:off x="812800" y="5137150"/>
            <a:ext cx="10566400" cy="704850"/>
          </a:xfrm>
          <a:prstGeom prst="roundRect">
            <a:avLst>
              <a:gd name="adj" fmla="val 14414"/>
            </a:avLst>
          </a:prstGeom>
          <a:solidFill>
            <a:srgbClr val="0E1A2B"/>
          </a:solidFill>
          <a:ln/>
        </p:spPr>
        <p:txBody>
          <a:bodyPr wrap="square" lIns="224242" tIns="148042" rIns="0" bIns="122642" rtlCol="0" anchor="t">
            <a:normAutofit/>
          </a:bodyPr>
          <a:lstStyle/>
          <a:p>
            <a:pPr marL="0" indent="0" algn="l">
              <a:lnSpc>
                <a:spcPts val="2750"/>
              </a:lnSpc>
              <a:buNone/>
            </a:pPr>
            <a:r>
              <a:rPr lang="en-US" sz="2200" b="1" dirty="0">
                <a:solidFill>
                  <a:srgbClr val="F7F6F1"/>
                </a:solidFill>
                <a:latin typeface="Arial" pitchFamily="34" charset="0"/>
                <a:ea typeface="Arial" pitchFamily="34" charset="-122"/>
                <a:cs typeface="Arial" pitchFamily="34" charset="-120"/>
              </a:rPr>
              <a:t>Diffs now reflect intent, not AI variation.</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A64C9"/>
                </a:solidFill>
                <a:latin typeface="Courier New" pitchFamily="49" charset="0"/>
                <a:ea typeface="Courier New" pitchFamily="49" charset="-122"/>
                <a:cs typeface="Courier New" pitchFamily="49" charset="-120"/>
              </a:rPr>
              <a:t>WRAP-UP · 11:50 TO 11:55</a:t>
            </a:r>
            <a:endParaRPr lang="en-US" sz="1400" dirty="0"/>
          </a:p>
        </p:txBody>
      </p:sp>
      <p:sp>
        <p:nvSpPr>
          <p:cNvPr id="3" name="Text 1"/>
          <p:cNvSpPr>
            <a:spLocks noGrp="1"/>
          </p:cNvSpPr>
          <p:nvPr>
            <p:ph type="title"/>
          </p:nvPr>
        </p:nvSpPr>
        <p:spPr>
          <a:xfrm>
            <a:off x="812800" y="12649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Where does this fit on your team?</a:t>
            </a:r>
            <a:endParaRPr lang="en-US" sz="3600" dirty="0"/>
          </a:p>
        </p:txBody>
      </p:sp>
      <p:sp>
        <p:nvSpPr>
          <p:cNvPr id="4" name="Text 2"/>
          <p:cNvSpPr/>
          <p:nvPr/>
        </p:nvSpPr>
        <p:spPr>
          <a:xfrm>
            <a:off x="815975" y="1974193"/>
            <a:ext cx="5200650" cy="906330"/>
          </a:xfrm>
          <a:prstGeom prst="roundRect">
            <a:avLst>
              <a:gd name="adj" fmla="val 10860"/>
            </a:avLst>
          </a:prstGeom>
          <a:solidFill>
            <a:srgbClr val="FDFCF9"/>
          </a:solidFill>
          <a:ln w="6350">
            <a:solidFill>
              <a:srgbClr val="DAD8CF"/>
            </a:solidFill>
            <a:prstDash val="solid"/>
          </a:ln>
        </p:spPr>
        <p:txBody>
          <a:bodyPr wrap="square" lIns="175431" tIns="150031" rIns="31667" bIns="124631" rtlCol="0" anchor="t">
            <a:normAutofit/>
          </a:bodyPr>
          <a:lstStyle/>
          <a:p>
            <a:pPr marL="0" indent="0" algn="l">
              <a:lnSpc>
                <a:spcPts val="2160"/>
              </a:lnSpc>
              <a:buNone/>
            </a:pPr>
            <a:r>
              <a:rPr lang="en-US" sz="1600" dirty="0">
                <a:solidFill>
                  <a:srgbClr val="0E1A2B"/>
                </a:solidFill>
                <a:latin typeface="Arial" pitchFamily="34" charset="0"/>
                <a:ea typeface="Arial" pitchFamily="34" charset="-122"/>
                <a:cs typeface="Arial" pitchFamily="34" charset="-120"/>
              </a:rPr>
              <a:t>Which architecture documents could a machine read today?</a:t>
            </a:r>
            <a:endParaRPr lang="en-US" sz="1600" dirty="0"/>
          </a:p>
        </p:txBody>
      </p:sp>
      <p:sp>
        <p:nvSpPr>
          <p:cNvPr id="5" name="Text 3"/>
          <p:cNvSpPr/>
          <p:nvPr/>
        </p:nvSpPr>
        <p:spPr>
          <a:xfrm>
            <a:off x="6175375" y="1974193"/>
            <a:ext cx="5200650" cy="906330"/>
          </a:xfrm>
          <a:prstGeom prst="roundRect">
            <a:avLst>
              <a:gd name="adj" fmla="val 10860"/>
            </a:avLst>
          </a:prstGeom>
          <a:solidFill>
            <a:srgbClr val="FDFCF9"/>
          </a:solidFill>
          <a:ln w="6350">
            <a:solidFill>
              <a:srgbClr val="DAD8CF"/>
            </a:solidFill>
            <a:prstDash val="solid"/>
          </a:ln>
        </p:spPr>
        <p:txBody>
          <a:bodyPr wrap="square" lIns="175431" tIns="150031" rIns="31667" bIns="124631" rtlCol="0" anchor="t">
            <a:normAutofit/>
          </a:bodyPr>
          <a:lstStyle/>
          <a:p>
            <a:pPr marL="0" indent="0" algn="l">
              <a:lnSpc>
                <a:spcPts val="2160"/>
              </a:lnSpc>
              <a:buNone/>
            </a:pPr>
            <a:r>
              <a:rPr lang="en-US" sz="1600" dirty="0">
                <a:solidFill>
                  <a:srgbClr val="0E1A2B"/>
                </a:solidFill>
                <a:latin typeface="Arial" pitchFamily="34" charset="0"/>
                <a:ea typeface="Arial" pitchFamily="34" charset="-122"/>
                <a:cs typeface="Arial" pitchFamily="34" charset="-120"/>
              </a:rPr>
              <a:t>Which Terraform patterns do you rewrite most?</a:t>
            </a:r>
            <a:endParaRPr lang="en-US" sz="1600" dirty="0"/>
          </a:p>
        </p:txBody>
      </p:sp>
      <p:sp>
        <p:nvSpPr>
          <p:cNvPr id="6" name="Text 4"/>
          <p:cNvSpPr/>
          <p:nvPr/>
        </p:nvSpPr>
        <p:spPr>
          <a:xfrm>
            <a:off x="815975" y="3039269"/>
            <a:ext cx="5200650" cy="906330"/>
          </a:xfrm>
          <a:prstGeom prst="roundRect">
            <a:avLst>
              <a:gd name="adj" fmla="val 10860"/>
            </a:avLst>
          </a:prstGeom>
          <a:solidFill>
            <a:srgbClr val="FDFCF9"/>
          </a:solidFill>
          <a:ln w="6350">
            <a:solidFill>
              <a:srgbClr val="DAD8CF"/>
            </a:solidFill>
            <a:prstDash val="solid"/>
          </a:ln>
        </p:spPr>
        <p:txBody>
          <a:bodyPr wrap="square" lIns="175431" tIns="150031" rIns="31667" bIns="124631" rtlCol="0" anchor="t">
            <a:normAutofit/>
          </a:bodyPr>
          <a:lstStyle/>
          <a:p>
            <a:pPr marL="0" indent="0" algn="l">
              <a:lnSpc>
                <a:spcPts val="2160"/>
              </a:lnSpc>
              <a:buNone/>
            </a:pPr>
            <a:r>
              <a:rPr lang="en-US" sz="1600" dirty="0">
                <a:solidFill>
                  <a:srgbClr val="0E1A2B"/>
                </a:solidFill>
                <a:latin typeface="Arial" pitchFamily="34" charset="0"/>
                <a:ea typeface="Arial" pitchFamily="34" charset="-122"/>
                <a:cs typeface="Arial" pitchFamily="34" charset="-120"/>
              </a:rPr>
              <a:t>Which standards would become generator defaults?</a:t>
            </a:r>
            <a:endParaRPr lang="en-US" sz="1600" dirty="0"/>
          </a:p>
        </p:txBody>
      </p:sp>
      <p:sp>
        <p:nvSpPr>
          <p:cNvPr id="7" name="Text 5"/>
          <p:cNvSpPr/>
          <p:nvPr/>
        </p:nvSpPr>
        <p:spPr>
          <a:xfrm>
            <a:off x="6175375" y="3039269"/>
            <a:ext cx="5200650" cy="906330"/>
          </a:xfrm>
          <a:prstGeom prst="roundRect">
            <a:avLst>
              <a:gd name="adj" fmla="val 10860"/>
            </a:avLst>
          </a:prstGeom>
          <a:solidFill>
            <a:srgbClr val="FDFCF9"/>
          </a:solidFill>
          <a:ln w="6350">
            <a:solidFill>
              <a:srgbClr val="DAD8CF"/>
            </a:solidFill>
            <a:prstDash val="solid"/>
          </a:ln>
        </p:spPr>
        <p:txBody>
          <a:bodyPr wrap="square" lIns="175431" tIns="150031" rIns="31667" bIns="124631" rtlCol="0" anchor="t">
            <a:normAutofit/>
          </a:bodyPr>
          <a:lstStyle/>
          <a:p>
            <a:pPr marL="0" indent="0" algn="l">
              <a:lnSpc>
                <a:spcPts val="2160"/>
              </a:lnSpc>
              <a:buNone/>
            </a:pPr>
            <a:r>
              <a:rPr lang="en-US" sz="1600" dirty="0">
                <a:solidFill>
                  <a:srgbClr val="0E1A2B"/>
                </a:solidFill>
                <a:latin typeface="Arial" pitchFamily="34" charset="0"/>
                <a:ea typeface="Arial" pitchFamily="34" charset="-122"/>
                <a:cs typeface="Arial" pitchFamily="34" charset="-120"/>
              </a:rPr>
              <a:t>What would your spec need to capture that this one does not?</a:t>
            </a:r>
            <a:endParaRPr lang="en-US" sz="1600" dirty="0"/>
          </a:p>
        </p:txBody>
      </p:sp>
      <p:sp>
        <p:nvSpPr>
          <p:cNvPr id="8" name="Text 6"/>
          <p:cNvSpPr/>
          <p:nvPr/>
        </p:nvSpPr>
        <p:spPr>
          <a:xfrm>
            <a:off x="815975" y="4104357"/>
            <a:ext cx="5200650" cy="632023"/>
          </a:xfrm>
          <a:prstGeom prst="roundRect">
            <a:avLst>
              <a:gd name="adj" fmla="val 15573"/>
            </a:avLst>
          </a:prstGeom>
          <a:solidFill>
            <a:srgbClr val="FDFCF9"/>
          </a:solidFill>
          <a:ln w="6350">
            <a:solidFill>
              <a:srgbClr val="DAD8CF"/>
            </a:solidFill>
            <a:prstDash val="solid"/>
          </a:ln>
        </p:spPr>
        <p:txBody>
          <a:bodyPr wrap="square" lIns="175431" tIns="150031" rIns="31667" bIns="124631" rtlCol="0" anchor="t">
            <a:normAutofit/>
          </a:bodyPr>
          <a:lstStyle/>
          <a:p>
            <a:pPr marL="0" indent="0" algn="l">
              <a:lnSpc>
                <a:spcPts val="2160"/>
              </a:lnSpc>
              <a:buNone/>
            </a:pPr>
            <a:r>
              <a:rPr lang="en-US" sz="1600" dirty="0">
                <a:solidFill>
                  <a:srgbClr val="0E1A2B"/>
                </a:solidFill>
                <a:latin typeface="Arial" pitchFamily="34" charset="0"/>
                <a:ea typeface="Arial" pitchFamily="34" charset="-122"/>
                <a:cs typeface="Arial" pitchFamily="34" charset="-120"/>
              </a:rPr>
              <a:t>Where does the human review gate sit?</a:t>
            </a:r>
            <a:endParaRPr lang="en-US" sz="1600" dirty="0"/>
          </a:p>
        </p:txBody>
      </p:sp>
      <p:sp>
        <p:nvSpPr>
          <p:cNvPr id="9" name="Text 7"/>
          <p:cNvSpPr/>
          <p:nvPr/>
        </p:nvSpPr>
        <p:spPr>
          <a:xfrm>
            <a:off x="6175375" y="4104357"/>
            <a:ext cx="5200650" cy="632023"/>
          </a:xfrm>
          <a:prstGeom prst="roundRect">
            <a:avLst>
              <a:gd name="adj" fmla="val 15573"/>
            </a:avLst>
          </a:prstGeom>
          <a:solidFill>
            <a:srgbClr val="FDFCF9"/>
          </a:solidFill>
          <a:ln w="6350">
            <a:solidFill>
              <a:srgbClr val="DAD8CF"/>
            </a:solidFill>
            <a:prstDash val="solid"/>
          </a:ln>
        </p:spPr>
        <p:txBody>
          <a:bodyPr wrap="square" lIns="175431" tIns="150031" rIns="31667" bIns="124631" rtlCol="0" anchor="t">
            <a:normAutofit/>
          </a:bodyPr>
          <a:lstStyle/>
          <a:p>
            <a:pPr marL="0" indent="0" algn="l">
              <a:lnSpc>
                <a:spcPts val="2160"/>
              </a:lnSpc>
              <a:buNone/>
            </a:pPr>
            <a:r>
              <a:rPr lang="en-US" sz="1600" dirty="0">
                <a:solidFill>
                  <a:srgbClr val="0E1A2B"/>
                </a:solidFill>
                <a:latin typeface="Arial" pitchFamily="34" charset="0"/>
                <a:ea typeface="Arial" pitchFamily="34" charset="-122"/>
                <a:cs typeface="Arial" pitchFamily="34" charset="-120"/>
              </a:rPr>
              <a:t>What is the smallest first slice for the next 30 days?</a:t>
            </a:r>
            <a:endParaRPr lang="en-US" sz="1600" dirty="0"/>
          </a:p>
        </p:txBody>
      </p:sp>
      <p:sp>
        <p:nvSpPr>
          <p:cNvPr id="10" name="Text 8"/>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656"/>
                </a:solidFill>
                <a:latin typeface="Arial" pitchFamily="34" charset="0"/>
                <a:ea typeface="Arial" pitchFamily="34" charset="-122"/>
                <a:cs typeface="Arial" pitchFamily="34" charset="-120"/>
              </a:rPr>
              <a:t>Five minutes on your own, then compare with a neighbor.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7DB0FF"/>
                </a:solidFill>
                <a:latin typeface="Courier New" pitchFamily="49" charset="0"/>
                <a:ea typeface="Courier New" pitchFamily="49" charset="-122"/>
                <a:cs typeface="Courier New" pitchFamily="49" charset="-120"/>
              </a:rPr>
              <a:t>DISCUSSION · 11:55 TO 11:58</a:t>
            </a:r>
            <a:endParaRPr lang="en-US" sz="1400" dirty="0"/>
          </a:p>
        </p:txBody>
      </p:sp>
      <p:sp>
        <p:nvSpPr>
          <p:cNvPr id="3" name="Text 1"/>
          <p:cNvSpPr>
            <a:spLocks noGrp="1"/>
          </p:cNvSpPr>
          <p:nvPr>
            <p:ph type="title"/>
          </p:nvPr>
        </p:nvSpPr>
        <p:spPr>
          <a:xfrm>
            <a:off x="812800" y="13157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6F1"/>
                </a:solidFill>
                <a:latin typeface="Arial" pitchFamily="34" charset="0"/>
                <a:ea typeface="Arial" pitchFamily="34" charset="-122"/>
                <a:cs typeface="Arial" pitchFamily="34" charset="-120"/>
              </a:rPr>
              <a:t>Two questions for the room</a:t>
            </a:r>
            <a:endParaRPr lang="en-US" sz="3600" dirty="0"/>
          </a:p>
        </p:txBody>
      </p:sp>
      <p:sp>
        <p:nvSpPr>
          <p:cNvPr id="4" name="Shape 2"/>
          <p:cNvSpPr/>
          <p:nvPr/>
        </p:nvSpPr>
        <p:spPr>
          <a:xfrm>
            <a:off x="812800" y="2072618"/>
            <a:ext cx="5181600" cy="3769387"/>
          </a:xfrm>
          <a:prstGeom prst="roundRect">
            <a:avLst>
              <a:gd name="adj" fmla="val 3369"/>
            </a:avLst>
          </a:prstGeom>
          <a:solidFill>
            <a:srgbClr val="16263D"/>
          </a:solidFill>
          <a:ln/>
        </p:spPr>
        <p:txBody>
          <a:bodyPr/>
          <a:lstStyle/>
          <a:p>
            <a:endParaRPr lang="en-US"/>
          </a:p>
        </p:txBody>
      </p:sp>
      <p:sp>
        <p:nvSpPr>
          <p:cNvPr id="5" name="Text 3"/>
          <p:cNvSpPr/>
          <p:nvPr/>
        </p:nvSpPr>
        <p:spPr>
          <a:xfrm>
            <a:off x="1168400" y="2428218"/>
            <a:ext cx="4604512"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2B134"/>
                </a:solidFill>
                <a:latin typeface="Courier New" pitchFamily="49" charset="0"/>
                <a:ea typeface="Courier New" pitchFamily="49" charset="-122"/>
                <a:cs typeface="Courier New" pitchFamily="49" charset="-120"/>
              </a:rPr>
              <a:t>1</a:t>
            </a:r>
            <a:endParaRPr lang="en-US" sz="2800" dirty="0"/>
          </a:p>
        </p:txBody>
      </p:sp>
      <p:sp>
        <p:nvSpPr>
          <p:cNvPr id="6" name="Text 4"/>
          <p:cNvSpPr/>
          <p:nvPr/>
        </p:nvSpPr>
        <p:spPr>
          <a:xfrm>
            <a:off x="1168400" y="3053035"/>
            <a:ext cx="4604512" cy="850900"/>
          </a:xfrm>
          <a:prstGeom prst="rect">
            <a:avLst/>
          </a:prstGeom>
          <a:noFill/>
          <a:ln/>
        </p:spPr>
        <p:txBody>
          <a:bodyPr wrap="square" lIns="0" tIns="0" rIns="0" bIns="0" rtlCol="0" anchor="t">
            <a:normAutofit/>
          </a:bodyPr>
          <a:lstStyle/>
          <a:p>
            <a:pPr marL="0" indent="0" algn="l">
              <a:lnSpc>
                <a:spcPts val="3250"/>
              </a:lnSpc>
              <a:buNone/>
            </a:pPr>
            <a:r>
              <a:rPr lang="en-US" sz="2600" dirty="0">
                <a:solidFill>
                  <a:srgbClr val="F7F6F1"/>
                </a:solidFill>
                <a:latin typeface="Arial" pitchFamily="34" charset="0"/>
                <a:ea typeface="Arial" pitchFamily="34" charset="-122"/>
                <a:cs typeface="Arial" pitchFamily="34" charset="-120"/>
              </a:rPr>
              <a:t>What is the smallest first slice you could try in 30 days?</a:t>
            </a:r>
            <a:endParaRPr lang="en-US" sz="2600" dirty="0"/>
          </a:p>
        </p:txBody>
      </p:sp>
      <p:sp>
        <p:nvSpPr>
          <p:cNvPr id="7" name="Shape 5"/>
          <p:cNvSpPr/>
          <p:nvPr/>
        </p:nvSpPr>
        <p:spPr>
          <a:xfrm>
            <a:off x="6197600" y="2072618"/>
            <a:ext cx="5181600" cy="3769387"/>
          </a:xfrm>
          <a:prstGeom prst="roundRect">
            <a:avLst>
              <a:gd name="adj" fmla="val 3369"/>
            </a:avLst>
          </a:prstGeom>
          <a:solidFill>
            <a:srgbClr val="16263D"/>
          </a:solidFill>
          <a:ln/>
        </p:spPr>
        <p:txBody>
          <a:bodyPr/>
          <a:lstStyle/>
          <a:p>
            <a:endParaRPr lang="en-US"/>
          </a:p>
        </p:txBody>
      </p:sp>
      <p:sp>
        <p:nvSpPr>
          <p:cNvPr id="8" name="Text 6"/>
          <p:cNvSpPr/>
          <p:nvPr/>
        </p:nvSpPr>
        <p:spPr>
          <a:xfrm>
            <a:off x="6553200" y="2428218"/>
            <a:ext cx="4604512"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2B134"/>
                </a:solidFill>
                <a:latin typeface="Courier New" pitchFamily="49" charset="0"/>
                <a:ea typeface="Courier New" pitchFamily="49" charset="-122"/>
                <a:cs typeface="Courier New" pitchFamily="49" charset="-120"/>
              </a:rPr>
              <a:t>2</a:t>
            </a:r>
            <a:endParaRPr lang="en-US" sz="2800" dirty="0"/>
          </a:p>
        </p:txBody>
      </p:sp>
      <p:sp>
        <p:nvSpPr>
          <p:cNvPr id="9" name="Text 7"/>
          <p:cNvSpPr/>
          <p:nvPr/>
        </p:nvSpPr>
        <p:spPr>
          <a:xfrm>
            <a:off x="6553200" y="3053035"/>
            <a:ext cx="4604512" cy="1263650"/>
          </a:xfrm>
          <a:prstGeom prst="rect">
            <a:avLst/>
          </a:prstGeom>
          <a:noFill/>
          <a:ln/>
        </p:spPr>
        <p:txBody>
          <a:bodyPr wrap="square" lIns="0" tIns="0" rIns="0" bIns="0" rtlCol="0" anchor="t">
            <a:normAutofit/>
          </a:bodyPr>
          <a:lstStyle/>
          <a:p>
            <a:pPr marL="0" indent="0" algn="l">
              <a:lnSpc>
                <a:spcPts val="3250"/>
              </a:lnSpc>
              <a:buNone/>
            </a:pPr>
            <a:r>
              <a:rPr lang="en-US" sz="2600" dirty="0">
                <a:solidFill>
                  <a:srgbClr val="F7F6F1"/>
                </a:solidFill>
                <a:latin typeface="Arial" pitchFamily="34" charset="0"/>
                <a:ea typeface="Arial" pitchFamily="34" charset="-122"/>
                <a:cs typeface="Arial" pitchFamily="34" charset="-120"/>
              </a:rPr>
              <a:t>Which of your standards would become a generator default?</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A64C9"/>
        </a:solidFill>
        <a:effectLst/>
      </p:bgPr>
    </p:bg>
    <p:spTree>
      <p:nvGrpSpPr>
        <p:cNvPr id="1" name=""/>
        <p:cNvGrpSpPr/>
        <p:nvPr/>
      </p:nvGrpSpPr>
      <p:grpSpPr>
        <a:xfrm>
          <a:off x="0" y="0"/>
          <a:ext cx="0" cy="0"/>
          <a:chOff x="0" y="0"/>
          <a:chExt cx="0" cy="0"/>
        </a:xfrm>
      </p:grpSpPr>
      <p:sp>
        <p:nvSpPr>
          <p:cNvPr id="2" name="Text 0"/>
          <p:cNvSpPr/>
          <p:nvPr/>
        </p:nvSpPr>
        <p:spPr>
          <a:xfrm>
            <a:off x="812800" y="134117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7F6F1"/>
                </a:solidFill>
                <a:latin typeface="Courier New" pitchFamily="49" charset="0"/>
                <a:ea typeface="Courier New" pitchFamily="49" charset="-122"/>
                <a:cs typeface="Courier New" pitchFamily="49" charset="-120"/>
              </a:rPr>
              <a:t>WHAT TO REMEMBER</a:t>
            </a:r>
            <a:endParaRPr lang="en-US" sz="1400" dirty="0"/>
          </a:p>
        </p:txBody>
      </p:sp>
      <p:sp>
        <p:nvSpPr>
          <p:cNvPr id="3" name="Text 1"/>
          <p:cNvSpPr/>
          <p:nvPr/>
        </p:nvSpPr>
        <p:spPr>
          <a:xfrm>
            <a:off x="812800" y="1767880"/>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7F6F1"/>
                </a:solidFill>
                <a:latin typeface="Arial" pitchFamily="34" charset="0"/>
                <a:ea typeface="Arial" pitchFamily="34" charset="-122"/>
                <a:cs typeface="Arial" pitchFamily="34" charset="-120"/>
              </a:rPr>
              <a:t>AI handles the fuzzy work.</a:t>
            </a:r>
            <a:endParaRPr lang="en-US" sz="4800" dirty="0"/>
          </a:p>
        </p:txBody>
      </p:sp>
      <p:sp>
        <p:nvSpPr>
          <p:cNvPr id="4" name="Text 2"/>
          <p:cNvSpPr/>
          <p:nvPr/>
        </p:nvSpPr>
        <p:spPr>
          <a:xfrm>
            <a:off x="812800" y="2616200"/>
            <a:ext cx="10883392" cy="1366441"/>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7F6F1"/>
                </a:solidFill>
                <a:latin typeface="Arial" pitchFamily="34" charset="0"/>
                <a:ea typeface="Arial" pitchFamily="34" charset="-122"/>
                <a:cs typeface="Arial" pitchFamily="34" charset="-120"/>
              </a:rPr>
              <a:t>Scripts handle the deterministic work.</a:t>
            </a:r>
            <a:endParaRPr lang="en-US" sz="4800" dirty="0"/>
          </a:p>
        </p:txBody>
      </p:sp>
      <p:sp>
        <p:nvSpPr>
          <p:cNvPr id="5" name="Text 3"/>
          <p:cNvSpPr/>
          <p:nvPr/>
        </p:nvSpPr>
        <p:spPr>
          <a:xfrm>
            <a:off x="812800" y="4135041"/>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7F6F1"/>
                </a:solidFill>
                <a:latin typeface="Arial" pitchFamily="34" charset="0"/>
                <a:ea typeface="Arial" pitchFamily="34" charset="-122"/>
                <a:cs typeface="Arial" pitchFamily="34" charset="-120"/>
              </a:rPr>
              <a:t>Engineers handle judgment.</a:t>
            </a:r>
            <a:endParaRPr lang="en-US" sz="4800" dirty="0"/>
          </a:p>
        </p:txBody>
      </p:sp>
      <p:sp>
        <p:nvSpPr>
          <p:cNvPr id="6" name="Text 4"/>
          <p:cNvSpPr/>
          <p:nvPr/>
        </p:nvSpPr>
        <p:spPr>
          <a:xfrm>
            <a:off x="812800" y="4983361"/>
            <a:ext cx="10883392" cy="355600"/>
          </a:xfrm>
          <a:prstGeom prst="rect">
            <a:avLst/>
          </a:prstGeom>
          <a:noFill/>
          <a:ln/>
        </p:spPr>
        <p:txBody>
          <a:bodyPr wrap="square" lIns="0" tIns="0" rIns="0" bIns="0" rtlCol="0" anchor="t">
            <a:normAutofit/>
          </a:bodyPr>
          <a:lstStyle/>
          <a:p>
            <a:pPr marL="0" indent="0" algn="l">
              <a:lnSpc>
                <a:spcPts val="2600"/>
              </a:lnSpc>
              <a:buNone/>
            </a:pPr>
            <a:r>
              <a:rPr lang="en-US" sz="2000" i="1" dirty="0">
                <a:solidFill>
                  <a:srgbClr val="F7F6F1"/>
                </a:solidFill>
                <a:latin typeface="Arial" pitchFamily="34" charset="0"/>
                <a:ea typeface="Arial" pitchFamily="34" charset="-122"/>
                <a:cs typeface="Arial" pitchFamily="34" charset="-120"/>
              </a:rPr>
              <a:t>AI didn’t replace the platform engineers. It replaced the boring parts.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0E1A2B"/>
                </a:solidFill>
                <a:latin typeface="Arial" pitchFamily="34" charset="0"/>
                <a:ea typeface="Arial" pitchFamily="34" charset="-122"/>
                <a:cs typeface="Arial" pitchFamily="34" charset="-120"/>
              </a:rPr>
              <a:t>Take it home</a:t>
            </a:r>
            <a:endParaRPr lang="en-US" sz="4000" dirty="0"/>
          </a:p>
        </p:txBody>
      </p:sp>
      <p:sp>
        <p:nvSpPr>
          <p:cNvPr id="3" name="Shape 1"/>
          <p:cNvSpPr/>
          <p:nvPr/>
        </p:nvSpPr>
        <p:spPr>
          <a:xfrm>
            <a:off x="815975" y="1603375"/>
            <a:ext cx="10560050" cy="898657"/>
          </a:xfrm>
          <a:prstGeom prst="roundRect">
            <a:avLst>
              <a:gd name="adj" fmla="val 10952"/>
            </a:avLst>
          </a:prstGeom>
          <a:solidFill>
            <a:srgbClr val="FDFCF9"/>
          </a:solidFill>
          <a:ln w="6350">
            <a:solidFill>
              <a:srgbClr val="DAD8CF"/>
            </a:solidFill>
            <a:prstDash val="solid"/>
          </a:ln>
        </p:spPr>
        <p:txBody>
          <a:bodyPr/>
          <a:lstStyle/>
          <a:p>
            <a:endParaRPr lang="en-US"/>
          </a:p>
        </p:txBody>
      </p:sp>
      <p:sp>
        <p:nvSpPr>
          <p:cNvPr id="4" name="Text 2"/>
          <p:cNvSpPr/>
          <p:nvPr/>
        </p:nvSpPr>
        <p:spPr>
          <a:xfrm>
            <a:off x="1020233" y="1769542"/>
            <a:ext cx="1045608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2A64C9"/>
                </a:solidFill>
                <a:latin typeface="Courier New" pitchFamily="49" charset="0"/>
                <a:ea typeface="Courier New" pitchFamily="49" charset="-122"/>
                <a:cs typeface="Courier New" pitchFamily="49" charset="-120"/>
              </a:rPr>
              <a:t>THE REPO</a:t>
            </a:r>
            <a:endParaRPr lang="en-US" sz="1200" dirty="0"/>
          </a:p>
        </p:txBody>
      </p:sp>
      <p:sp>
        <p:nvSpPr>
          <p:cNvPr id="5" name="Text 3"/>
          <p:cNvSpPr/>
          <p:nvPr/>
        </p:nvSpPr>
        <p:spPr>
          <a:xfrm>
            <a:off x="1020233" y="2033662"/>
            <a:ext cx="1045608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A2B"/>
                </a:solidFill>
                <a:latin typeface="Courier New" pitchFamily="49" charset="0"/>
                <a:ea typeface="Courier New" pitchFamily="49" charset="-122"/>
                <a:cs typeface="Courier New" pitchFamily="49" charset="-120"/>
              </a:rPr>
              <a:t>github.com/TaleLearnCode/AutomatedTerraformGeneratorDemo</a:t>
            </a:r>
            <a:endParaRPr lang="en-US" sz="1700" dirty="0"/>
          </a:p>
        </p:txBody>
      </p:sp>
      <p:sp>
        <p:nvSpPr>
          <p:cNvPr id="6" name="Shape 4"/>
          <p:cNvSpPr/>
          <p:nvPr/>
        </p:nvSpPr>
        <p:spPr>
          <a:xfrm>
            <a:off x="815975" y="2635386"/>
            <a:ext cx="10560050" cy="898657"/>
          </a:xfrm>
          <a:prstGeom prst="roundRect">
            <a:avLst>
              <a:gd name="adj" fmla="val 10952"/>
            </a:avLst>
          </a:prstGeom>
          <a:solidFill>
            <a:srgbClr val="FDFCF9"/>
          </a:solidFill>
          <a:ln w="6350">
            <a:solidFill>
              <a:srgbClr val="DAD8CF"/>
            </a:solidFill>
            <a:prstDash val="solid"/>
          </a:ln>
        </p:spPr>
        <p:txBody>
          <a:bodyPr/>
          <a:lstStyle/>
          <a:p>
            <a:endParaRPr lang="en-US"/>
          </a:p>
        </p:txBody>
      </p:sp>
      <p:sp>
        <p:nvSpPr>
          <p:cNvPr id="7" name="Text 5"/>
          <p:cNvSpPr/>
          <p:nvPr/>
        </p:nvSpPr>
        <p:spPr>
          <a:xfrm>
            <a:off x="1020233" y="2801541"/>
            <a:ext cx="1045608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2A64C9"/>
                </a:solidFill>
                <a:latin typeface="Courier New" pitchFamily="49" charset="0"/>
                <a:ea typeface="Courier New" pitchFamily="49" charset="-122"/>
                <a:cs typeface="Courier New" pitchFamily="49" charset="-120"/>
              </a:rPr>
              <a:t>APPLY IT TO YOUR OWN SERVICE</a:t>
            </a:r>
            <a:endParaRPr lang="en-US" sz="1200" dirty="0"/>
          </a:p>
        </p:txBody>
      </p:sp>
      <p:sp>
        <p:nvSpPr>
          <p:cNvPr id="8" name="Text 6"/>
          <p:cNvSpPr/>
          <p:nvPr/>
        </p:nvSpPr>
        <p:spPr>
          <a:xfrm>
            <a:off x="1020233" y="3065661"/>
            <a:ext cx="1045608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A2B"/>
                </a:solidFill>
                <a:latin typeface="Courier New" pitchFamily="49" charset="0"/>
                <a:ea typeface="Courier New" pitchFamily="49" charset="-122"/>
                <a:cs typeface="Courier New" pitchFamily="49" charset="-120"/>
              </a:rPr>
              <a:t>guides\adapting-to-your-service.md</a:t>
            </a:r>
            <a:endParaRPr lang="en-US" sz="1700" dirty="0"/>
          </a:p>
        </p:txBody>
      </p:sp>
      <p:sp>
        <p:nvSpPr>
          <p:cNvPr id="9" name="Shape 7"/>
          <p:cNvSpPr/>
          <p:nvPr/>
        </p:nvSpPr>
        <p:spPr>
          <a:xfrm>
            <a:off x="815975" y="3667398"/>
            <a:ext cx="10560050" cy="898657"/>
          </a:xfrm>
          <a:prstGeom prst="roundRect">
            <a:avLst>
              <a:gd name="adj" fmla="val 10952"/>
            </a:avLst>
          </a:prstGeom>
          <a:solidFill>
            <a:srgbClr val="FDFCF9"/>
          </a:solidFill>
          <a:ln w="6350">
            <a:solidFill>
              <a:srgbClr val="DAD8CF"/>
            </a:solidFill>
            <a:prstDash val="solid"/>
          </a:ln>
        </p:spPr>
        <p:txBody>
          <a:bodyPr/>
          <a:lstStyle/>
          <a:p>
            <a:endParaRPr lang="en-US"/>
          </a:p>
        </p:txBody>
      </p:sp>
      <p:sp>
        <p:nvSpPr>
          <p:cNvPr id="10" name="Text 8"/>
          <p:cNvSpPr/>
          <p:nvPr/>
        </p:nvSpPr>
        <p:spPr>
          <a:xfrm>
            <a:off x="1020233" y="3833552"/>
            <a:ext cx="1045608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2A64C9"/>
                </a:solidFill>
                <a:latin typeface="Courier New" pitchFamily="49" charset="0"/>
                <a:ea typeface="Courier New" pitchFamily="49" charset="-122"/>
                <a:cs typeface="Courier New" pitchFamily="49" charset="-120"/>
              </a:rPr>
              <a:t>ADD MORE RESOURCE TYPES</a:t>
            </a:r>
            <a:endParaRPr lang="en-US" sz="1200" dirty="0"/>
          </a:p>
        </p:txBody>
      </p:sp>
      <p:sp>
        <p:nvSpPr>
          <p:cNvPr id="11" name="Text 9"/>
          <p:cNvSpPr/>
          <p:nvPr/>
        </p:nvSpPr>
        <p:spPr>
          <a:xfrm>
            <a:off x="1020233" y="4097672"/>
            <a:ext cx="1045608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A2B"/>
                </a:solidFill>
                <a:latin typeface="Courier New" pitchFamily="49" charset="0"/>
                <a:ea typeface="Courier New" pitchFamily="49" charset="-122"/>
                <a:cs typeface="Courier New" pitchFamily="49" charset="-120"/>
              </a:rPr>
              <a:t>guides\extending-the-generator.md</a:t>
            </a:r>
            <a:endParaRPr lang="en-US" sz="1700" dirty="0"/>
          </a:p>
        </p:txBody>
      </p:sp>
      <p:sp>
        <p:nvSpPr>
          <p:cNvPr id="12" name="Shape 10"/>
          <p:cNvSpPr/>
          <p:nvPr/>
        </p:nvSpPr>
        <p:spPr>
          <a:xfrm>
            <a:off x="815975" y="4699397"/>
            <a:ext cx="10560050" cy="898657"/>
          </a:xfrm>
          <a:prstGeom prst="roundRect">
            <a:avLst>
              <a:gd name="adj" fmla="val 10952"/>
            </a:avLst>
          </a:prstGeom>
          <a:solidFill>
            <a:srgbClr val="FDFCF9"/>
          </a:solidFill>
          <a:ln w="6350">
            <a:solidFill>
              <a:srgbClr val="DAD8CF"/>
            </a:solidFill>
            <a:prstDash val="solid"/>
          </a:ln>
        </p:spPr>
        <p:txBody>
          <a:bodyPr/>
          <a:lstStyle/>
          <a:p>
            <a:endParaRPr lang="en-US"/>
          </a:p>
        </p:txBody>
      </p:sp>
      <p:sp>
        <p:nvSpPr>
          <p:cNvPr id="13" name="Text 11"/>
          <p:cNvSpPr/>
          <p:nvPr/>
        </p:nvSpPr>
        <p:spPr>
          <a:xfrm>
            <a:off x="1020233" y="4865563"/>
            <a:ext cx="1045608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2A64C9"/>
                </a:solidFill>
                <a:latin typeface="Courier New" pitchFamily="49" charset="0"/>
                <a:ea typeface="Courier New" pitchFamily="49" charset="-122"/>
                <a:cs typeface="Courier New" pitchFamily="49" charset="-120"/>
              </a:rPr>
              <a:t>QUESTIONS AND FEEDBACK</a:t>
            </a:r>
            <a:endParaRPr lang="en-US" sz="1200" dirty="0"/>
          </a:p>
        </p:txBody>
      </p:sp>
      <p:sp>
        <p:nvSpPr>
          <p:cNvPr id="14" name="Text 12"/>
          <p:cNvSpPr/>
          <p:nvPr/>
        </p:nvSpPr>
        <p:spPr>
          <a:xfrm>
            <a:off x="1020233" y="5129684"/>
            <a:ext cx="1045608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A2B"/>
                </a:solidFill>
                <a:latin typeface="Arial" pitchFamily="34" charset="0"/>
                <a:ea typeface="Arial" pitchFamily="34" charset="-122"/>
                <a:cs typeface="Arial" pitchFamily="34" charset="-120"/>
              </a:rPr>
              <a:t>chadgreen@chadgreen.com</a:t>
            </a:r>
            <a:endParaRPr lang="en-US" sz="1700" dirty="0"/>
          </a:p>
        </p:txBody>
      </p:sp>
      <p:sp>
        <p:nvSpPr>
          <p:cNvPr id="15" name="Text 13"/>
          <p:cNvSpPr/>
          <p:nvPr/>
        </p:nvSpPr>
        <p:spPr>
          <a:xfrm>
            <a:off x="812800" y="620269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656"/>
                </a:solidFill>
                <a:latin typeface="Arial" pitchFamily="34" charset="0"/>
                <a:ea typeface="Arial" pitchFamily="34" charset="-122"/>
                <a:cs typeface="Arial" pitchFamily="34" charset="-120"/>
              </a:rPr>
              <a:t>Clean up: Remove-Item .\infra -Recurse -Force</a:t>
            </a:r>
            <a:endParaRPr lang="en-US" sz="1400" dirty="0"/>
          </a:p>
        </p:txBody>
      </p:sp>
    </p:spTree>
  </p:cSld>
  <p:clrMapOvr>
    <a:masterClrMapping/>
  </p:clrMapOvr>
</p:sld>
</file>

<file path=ppt/theme/theme1.xml><?xml version="1.0" encoding="utf-8"?>
<a:theme xmlns:a="http://schemas.openxmlformats.org/drawingml/2006/main" name="From Architecture to Terraform Workshop">
  <a:themeElements>
    <a:clrScheme name="From Architecture to Terraform Workshop">
      <a:dk1>
        <a:srgbClr val="0E1A2B"/>
      </a:dk1>
      <a:lt1>
        <a:srgbClr val="F7F6F1"/>
      </a:lt1>
      <a:dk2>
        <a:srgbClr val="48515D"/>
      </a:dk2>
      <a:lt2>
        <a:srgbClr val="E0E0DD"/>
      </a:lt2>
      <a:accent1>
        <a:srgbClr val="2A64C9"/>
      </a:accent1>
      <a:accent2>
        <a:srgbClr val="F2B134"/>
      </a:accent2>
      <a:accent3>
        <a:srgbClr val="7DB0FF"/>
      </a:accent3>
      <a:accent4>
        <a:srgbClr val="8EA0B8"/>
      </a:accent4>
      <a:accent5>
        <a:srgbClr val="B4690E"/>
      </a:accent5>
      <a:accent6>
        <a:srgbClr val="8A4E05"/>
      </a:accent6>
      <a:hlink>
        <a:srgbClr val="0563C1"/>
      </a:hlink>
      <a:folHlink>
        <a:srgbClr val="954F72"/>
      </a:folHlink>
    </a:clrScheme>
    <a:fontScheme name="From Architecture to Terraform Worksho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2150</Words>
  <Application>Microsoft Office PowerPoint</Application>
  <PresentationFormat>Widescreen</PresentationFormat>
  <Paragraphs>258</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Courier New</vt:lpstr>
      <vt:lpstr>From Architecture to Terraform Workshop</vt:lpstr>
      <vt:lpstr>From Architecture to Terraform</vt:lpstr>
      <vt:lpstr>Infrastructure was the bottleneck</vt:lpstr>
      <vt:lpstr>From two weeks to two days</vt:lpstr>
      <vt:lpstr>Different Terraform.</vt:lpstr>
      <vt:lpstr>Split the job in two</vt:lpstr>
      <vt:lpstr>Today’s plan</vt:lpstr>
      <vt:lpstr>Run the preflight script</vt:lpstr>
      <vt:lpstr>Break determinism</vt:lpstr>
      <vt:lpstr>Lab 1: What did you notice?</vt:lpstr>
      <vt:lpstr>Architecture to YAML, and inspect it</vt:lpstr>
      <vt:lpstr>Lab 2: What did you notice?</vt:lpstr>
      <vt:lpstr>Deterministic generation</vt:lpstr>
      <vt:lpstr>Lab 3: What did you notice?</vt:lpstr>
      <vt:lpstr>Break</vt:lpstr>
      <vt:lpstr>Extend the generator</vt:lpstr>
      <vt:lpstr>Lab 4: What did you notice?</vt:lpstr>
      <vt:lpstr>Watch a change flow through</vt:lpstr>
      <vt:lpstr>Lab 5: What did you notice?</vt:lpstr>
      <vt:lpstr>Where does this fit on your team?</vt:lpstr>
      <vt:lpstr>Two questions for the room</vt:lpstr>
      <vt:lpstr>PowerPoint Presentation</vt:lpstr>
      <vt:lpstr>Take it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Architecture to Terraform Workshop</dc:title>
  <dc:subject/>
  <dc:creator/>
  <cp:lastModifiedBy>Chad Green</cp:lastModifiedBy>
  <cp:revision>3</cp:revision>
  <dcterms:created xsi:type="dcterms:W3CDTF">2026-10-17T10:46:24Z</dcterms:created>
  <dcterms:modified xsi:type="dcterms:W3CDTF">2026-10-17T19:13:12Z</dcterms:modified>
</cp:coreProperties>
</file>